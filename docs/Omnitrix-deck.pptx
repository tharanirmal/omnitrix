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1.7B base</c:v>
                </c:pt>
              </c:strCache>
            </c:strRef>
          </c:tx>
          <c:spPr>
            <a:solidFill>
              <a:srgbClr val="5A5A5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Supported?</c:v>
                </c:pt>
                <c:pt idx="1">
                  <c:v>Relevant?</c:v>
                </c:pt>
                <c:pt idx="2">
                  <c:v>Will reply?</c:v>
                </c:pt>
                <c:pt idx="3">
                  <c:v>Which folder (12)?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</c:v>
                </c:pt>
                <c:pt idx="1">
                  <c:v>74.4</c:v>
                </c:pt>
                <c:pt idx="2">
                  <c:v>44.6</c:v>
                </c:pt>
                <c:pt idx="3">
                  <c:v>31.5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14B zero-shot</c:v>
                </c:pt>
              </c:strCache>
            </c:strRef>
          </c:tx>
          <c:spPr>
            <a:solidFill>
              <a:srgbClr val="A0A0A0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Supported?</c:v>
                </c:pt>
                <c:pt idx="1">
                  <c:v>Relevant?</c:v>
                </c:pt>
                <c:pt idx="2">
                  <c:v>Will reply?</c:v>
                </c:pt>
                <c:pt idx="3">
                  <c:v>Which folder (12)?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95.5</c:v>
                </c:pt>
                <c:pt idx="1">
                  <c:v>87.5</c:v>
                </c:pt>
                <c:pt idx="2">
                  <c:v>55.4</c:v>
                </c:pt>
                <c:pt idx="3">
                  <c:v>47.9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1.7B fine-tuned on you</c:v>
                </c:pt>
              </c:strCache>
            </c:strRef>
          </c:tx>
          <c:spPr>
            <a:solidFill>
              <a:srgbClr val="FFFFFF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Supported?</c:v>
                </c:pt>
                <c:pt idx="1">
                  <c:v>Relevant?</c:v>
                </c:pt>
                <c:pt idx="2">
                  <c:v>Will reply?</c:v>
                </c:pt>
                <c:pt idx="3">
                  <c:v>Which folder (12)?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96.6</c:v>
                </c:pt>
                <c:pt idx="1">
                  <c:v>90.9</c:v>
                </c:pt>
                <c:pt idx="2">
                  <c:v>60.1</c:v>
                </c:pt>
                <c:pt idx="3">
                  <c:v>52.7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E6E6E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2C2C2C"/>
            </a:solidFill>
          </a:ln>
        </c:spPr>
        <c:txPr>
          <a:bodyPr/>
          <a:lstStyle/>
          <a:p>
            <a:pPr>
              <a:defRPr sz="1200">
                <a:solidFill>
                  <a:srgbClr val="E6E6E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E6E6E6"/>
              </a:solidFill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A0A0A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shot1.png"/><Relationship Id="rId4" Type="http://schemas.openxmlformats.org/officeDocument/2006/relationships/image" Target="../media/shot2.png"/><Relationship Id="rId5" Type="http://schemas.openxmlformats.org/officeDocument/2006/relationships/image" Target="../media/shot3.png"/><Relationship Id="rId6" Type="http://schemas.openxmlformats.org/officeDocument/2006/relationships/image" Target="../media/shot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8640" y="205740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6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Omni</a:t>
            </a:r>
            <a:r>
              <a:rPr lang="en-US" sz="6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trix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00" y="324612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 local AI secretary that remembers, plans and acts, only with your OK.</a:t>
            </a:r>
          </a:p>
        </p:txBody>
      </p:sp>
      <p:sp>
        <p:nvSpPr>
          <p:cNvPr id="6" name="Shape 6"/>
          <p:cNvSpPr/>
          <p:nvPr/>
        </p:nvSpPr>
        <p:spPr>
          <a:xfrm>
            <a:off x="2758288" y="41605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758288" y="41605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Brain: engram</a:t>
            </a:r>
          </a:p>
        </p:txBody>
      </p:sp>
      <p:sp>
        <p:nvSpPr>
          <p:cNvPr id="8" name="Shape 8"/>
          <p:cNvSpPr/>
          <p:nvPr/>
        </p:nvSpPr>
        <p:spPr>
          <a:xfrm>
            <a:off x="4952848" y="41605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952848" y="4160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Track 1 · Sovereign AI</a:t>
            </a:r>
          </a:p>
        </p:txBody>
      </p:sp>
      <p:sp>
        <p:nvSpPr>
          <p:cNvPr id="10" name="Shape 10"/>
          <p:cNvSpPr/>
          <p:nvPr/>
        </p:nvSpPr>
        <p:spPr>
          <a:xfrm>
            <a:off x="7513167" y="41605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7513167" y="41605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MSRIT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Storing is easy. </a:t>
            </a:r>
            <a:r>
              <a:rPr lang="en-US" sz="3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Judging is hard.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32588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Promises and decisions hide in your email. Today's memory tools store junk, or judge silently.</a:t>
            </a:r>
          </a:p>
        </p:txBody>
      </p:sp>
      <p:sp>
        <p:nvSpPr>
          <p:cNvPr id="6" name="Shape 6"/>
          <p:cNvSpPr/>
          <p:nvPr/>
        </p:nvSpPr>
        <p:spPr>
          <a:xfrm>
            <a:off x="655167" y="2103120"/>
            <a:ext cx="3383280" cy="265176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83767" y="23317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5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97.8%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3767" y="3383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of Mem0 memories were junk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487" y="384048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32-day audit of 10,134 memories</a:t>
            </a:r>
          </a:p>
        </p:txBody>
      </p:sp>
      <p:sp>
        <p:nvSpPr>
          <p:cNvPr id="10" name="Shape 10"/>
          <p:cNvSpPr/>
          <p:nvPr/>
        </p:nvSpPr>
        <p:spPr>
          <a:xfrm>
            <a:off x="4404208" y="2103120"/>
            <a:ext cx="3383280" cy="265176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632808" y="23317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5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41%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32808" y="3383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of Graphiti facts invalidated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78527" y="384048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small-model judge, ~3,950 facts; 3 of 4 audited were wrong</a:t>
            </a:r>
          </a:p>
        </p:txBody>
      </p:sp>
      <p:sp>
        <p:nvSpPr>
          <p:cNvPr id="14" name="Shape 14"/>
          <p:cNvSpPr/>
          <p:nvPr/>
        </p:nvSpPr>
        <p:spPr>
          <a:xfrm>
            <a:off x="8153248" y="2103120"/>
            <a:ext cx="3383280" cy="265176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381848" y="23317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5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7.5%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1848" y="3383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of queries leaked private data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27568" y="384048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careful local + cloud split (PAPILLON)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" y="51663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400" b="0" i="1" dirty="0">
                <a:solidFill>
                  <a:srgbClr val="A0A0A0"/>
                </a:solidFill>
                <a:latin typeface="Calibri"/>
                <a:cs typeface="Calibri"/>
              </a:rPr>
              <a:t xml:space="preserve">The hard part is the thousands of small judgements: remember this? did it change? send it?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One laptop. </a:t>
            </a:r>
            <a:r>
              <a:rPr lang="en-US" sz="3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One brain. Seven roles.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325880"/>
            <a:ext cx="11094415" cy="4526280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5A5A5A"/>
            </a:solidFill>
            <a:prstDash val="dash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77240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A0A0A0"/>
                </a:solidFill>
                <a:latin typeface="Calibri"/>
                <a:cs typeface="Calibri"/>
              </a:rPr>
              <a:t xml:space="preserve">YOUR LAPTOP  ·  LOCAL ONLY  ·  ZERO CLOUD CALLS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920240"/>
            <a:ext cx="2103120" cy="233172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51560" y="21031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Sources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1560" y="2560320"/>
            <a:ext cx="1737360" cy="1554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en-US" sz="13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Email</a:t>
            </a:r>
          </a:p>
          <a:p>
            <a:pPr algn="l">
              <a:spcAft>
                <a:spcPts val="400"/>
              </a:spcAft>
            </a:pPr>
            <a:r>
              <a:rPr lang="en-US" sz="13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Meetings</a:t>
            </a:r>
          </a:p>
          <a:p>
            <a:pPr algn="l">
              <a:spcAft>
                <a:spcPts val="400"/>
              </a:spcAft>
            </a:pPr>
            <a:r>
              <a:rPr lang="en-US" sz="13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Notes</a:t>
            </a:r>
          </a:p>
          <a:p>
            <a:pPr algn="l">
              <a:spcAft>
                <a:spcPts val="400"/>
              </a:spcAft>
            </a:pPr>
            <a:r>
              <a:rPr lang="en-US" sz="13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Add data</a:t>
            </a:r>
          </a:p>
        </p:txBody>
      </p:sp>
      <p:sp>
        <p:nvSpPr>
          <p:cNvPr id="10" name="Shape 10"/>
          <p:cNvSpPr/>
          <p:nvPr/>
        </p:nvSpPr>
        <p:spPr>
          <a:xfrm>
            <a:off x="3429000" y="1783080"/>
            <a:ext cx="5303520" cy="260604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22225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657600" y="1920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THE BRAIN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57600" y="217627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engram</a:t>
            </a:r>
          </a:p>
        </p:txBody>
      </p:sp>
      <p:sp>
        <p:nvSpPr>
          <p:cNvPr id="13" name="Shape 13"/>
          <p:cNvSpPr/>
          <p:nvPr/>
        </p:nvSpPr>
        <p:spPr>
          <a:xfrm>
            <a:off x="3657600" y="2743200"/>
            <a:ext cx="1115568" cy="713232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657600" y="2798064"/>
            <a:ext cx="1115568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S0</a:t>
            </a:r>
          </a:p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Code</a:t>
            </a:r>
          </a:p>
        </p:txBody>
      </p:sp>
      <p:sp>
        <p:nvSpPr>
          <p:cNvPr id="15" name="Shape 15"/>
          <p:cNvSpPr/>
          <p:nvPr/>
        </p:nvSpPr>
        <p:spPr>
          <a:xfrm>
            <a:off x="4892040" y="2743200"/>
            <a:ext cx="1115568" cy="713232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892040" y="2798064"/>
            <a:ext cx="1115568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S1</a:t>
            </a:r>
          </a:p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Small judge</a:t>
            </a:r>
          </a:p>
        </p:txBody>
      </p:sp>
      <p:sp>
        <p:nvSpPr>
          <p:cNvPr id="17" name="Shape 17"/>
          <p:cNvSpPr/>
          <p:nvPr/>
        </p:nvSpPr>
        <p:spPr>
          <a:xfrm>
            <a:off x="6126480" y="2743200"/>
            <a:ext cx="1115568" cy="713232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126480" y="2798064"/>
            <a:ext cx="1115568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S2</a:t>
            </a:r>
          </a:p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14B model</a:t>
            </a:r>
          </a:p>
        </p:txBody>
      </p:sp>
      <p:sp>
        <p:nvSpPr>
          <p:cNvPr id="19" name="Shape 19"/>
          <p:cNvSpPr/>
          <p:nvPr/>
        </p:nvSpPr>
        <p:spPr>
          <a:xfrm>
            <a:off x="7360920" y="2743200"/>
            <a:ext cx="1115568" cy="713232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7360920" y="2798064"/>
            <a:ext cx="1115568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H</a:t>
            </a:r>
          </a:p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You</a:t>
            </a:r>
          </a:p>
        </p:txBody>
      </p:sp>
      <p:sp>
        <p:nvSpPr>
          <p:cNvPr id="21" name="Shape 21"/>
          <p:cNvSpPr/>
          <p:nvPr/>
        </p:nvSpPr>
        <p:spPr>
          <a:xfrm>
            <a:off x="3657600" y="365760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3657600" y="3657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Every decision  →  one hash-chained ledger</a:t>
            </a:r>
          </a:p>
        </p:txBody>
      </p:sp>
      <p:sp>
        <p:nvSpPr>
          <p:cNvPr id="23" name="Shape 23"/>
          <p:cNvSpPr/>
          <p:nvPr/>
        </p:nvSpPr>
        <p:spPr>
          <a:xfrm>
            <a:off x="9235440" y="1920240"/>
            <a:ext cx="2194560" cy="233172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9464040" y="21031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You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64040" y="2560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en-US" sz="13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Web app</a:t>
            </a:r>
          </a:p>
          <a:p>
            <a:pPr algn="l">
              <a:spcAft>
                <a:spcPts val="400"/>
              </a:spcAft>
            </a:pPr>
            <a:r>
              <a:rPr lang="en-US" sz="13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Watch (Herald)</a:t>
            </a:r>
          </a:p>
          <a:p>
            <a:pPr algn="l">
              <a:spcAft>
                <a:spcPts val="400"/>
              </a:spcAft>
            </a:pPr>
            <a:r>
              <a:rPr lang="en-US" sz="13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Obsidian vault</a:t>
            </a:r>
          </a:p>
          <a:p>
            <a:pPr algn="l">
              <a:spcAft>
                <a:spcPts val="400"/>
              </a:spcAft>
            </a:pPr>
            <a:r>
              <a:rPr lang="en-US" sz="13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MCP tools</a:t>
            </a:r>
          </a:p>
        </p:txBody>
      </p:sp>
      <p:cxnSp>
        <p:nvCxnSpPr>
          <p:cNvPr id="26" name="Arrow 26"/>
          <p:cNvCxnSpPr/>
          <p:nvPr/>
        </p:nvCxnSpPr>
        <p:spPr>
          <a:xfrm>
            <a:off x="2971800" y="3081528"/>
            <a:ext cx="411480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cxnSp>
        <p:nvCxnSpPr>
          <p:cNvPr id="27" name="Arrow 27"/>
          <p:cNvCxnSpPr/>
          <p:nvPr/>
        </p:nvCxnSpPr>
        <p:spPr>
          <a:xfrm>
            <a:off x="8778240" y="3081528"/>
            <a:ext cx="411480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28" name="TextBox 28"/>
          <p:cNvSpPr txBox="1"/>
          <p:nvPr/>
        </p:nvSpPr>
        <p:spPr>
          <a:xfrm>
            <a:off x="822960" y="45720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A0A0A0"/>
                </a:solidFill>
                <a:latin typeface="Calibri"/>
                <a:cs typeface="Calibri"/>
              </a:rPr>
              <a:t xml:space="preserve">7 ROLES ON ONE PIPELINE   </a:t>
            </a:r>
            <a:r>
              <a:rPr lang="en-US" sz="11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(22 planned agents → 7)</a:t>
            </a:r>
          </a:p>
        </p:txBody>
      </p:sp>
      <p:sp>
        <p:nvSpPr>
          <p:cNvPr id="29" name="Shape 29"/>
          <p:cNvSpPr/>
          <p:nvPr/>
        </p:nvSpPr>
        <p:spPr>
          <a:xfrm>
            <a:off x="822960" y="49377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822960" y="49377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Librarian</a:t>
            </a:r>
          </a:p>
        </p:txBody>
      </p:sp>
      <p:sp>
        <p:nvSpPr>
          <p:cNvPr id="31" name="Shape 31"/>
          <p:cNvSpPr/>
          <p:nvPr/>
        </p:nvSpPr>
        <p:spPr>
          <a:xfrm>
            <a:off x="2350008" y="49377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2350008" y="49377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Researcher</a:t>
            </a:r>
          </a:p>
        </p:txBody>
      </p:sp>
      <p:sp>
        <p:nvSpPr>
          <p:cNvPr id="33" name="Shape 33"/>
          <p:cNvSpPr/>
          <p:nvPr/>
        </p:nvSpPr>
        <p:spPr>
          <a:xfrm>
            <a:off x="3877056" y="49377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3877056" y="49377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Memory</a:t>
            </a:r>
          </a:p>
        </p:txBody>
      </p:sp>
      <p:sp>
        <p:nvSpPr>
          <p:cNvPr id="35" name="Shape 35"/>
          <p:cNvSpPr/>
          <p:nvPr/>
        </p:nvSpPr>
        <p:spPr>
          <a:xfrm>
            <a:off x="5404104" y="49377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5404104" y="49377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Planner</a:t>
            </a:r>
          </a:p>
        </p:txBody>
      </p:sp>
      <p:sp>
        <p:nvSpPr>
          <p:cNvPr id="37" name="Shape 37"/>
          <p:cNvSpPr/>
          <p:nvPr/>
        </p:nvSpPr>
        <p:spPr>
          <a:xfrm>
            <a:off x="6931152" y="49377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6931152" y="49377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Operator</a:t>
            </a:r>
          </a:p>
        </p:txBody>
      </p:sp>
      <p:sp>
        <p:nvSpPr>
          <p:cNvPr id="39" name="Shape 39"/>
          <p:cNvSpPr/>
          <p:nvPr/>
        </p:nvSpPr>
        <p:spPr>
          <a:xfrm>
            <a:off x="8458200" y="49377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8458200" y="49377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Guardian</a:t>
            </a:r>
          </a:p>
        </p:txBody>
      </p:sp>
      <p:sp>
        <p:nvSpPr>
          <p:cNvPr id="41" name="Shape 41"/>
          <p:cNvSpPr/>
          <p:nvPr/>
        </p:nvSpPr>
        <p:spPr>
          <a:xfrm>
            <a:off x="9985248" y="49377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9985248" y="49377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Herald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4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 1.7B trained on you </a:t>
            </a:r>
            <a:r>
              <a:rPr lang="en-US" sz="34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beats a 14B that isn't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4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S0 code</a:t>
            </a: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  →   </a:t>
            </a:r>
            <a:r>
              <a:rPr lang="en-US" sz="14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S1 small judge</a:t>
            </a: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  →   </a:t>
            </a:r>
            <a:r>
              <a:rPr lang="en-US" sz="14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S2 14B</a:t>
            </a: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  →   </a:t>
            </a:r>
            <a:r>
              <a:rPr lang="en-US" sz="14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You</a:t>
            </a:r>
          </a:p>
        </p:txBody>
      </p:sp>
      <p:graphicFrame>
        <p:nvGraphicFramePr>
          <p:cNvPr id="6" name="Chart 6"/>
          <p:cNvGraphicFramePr/>
          <p:nvPr/>
        </p:nvGraphicFramePr>
        <p:xfrm>
          <a:off x="1234440" y="1783080"/>
          <a:ext cx="717804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7"/>
          <p:cNvSpPr/>
          <p:nvPr/>
        </p:nvSpPr>
        <p:spPr>
          <a:xfrm>
            <a:off x="8641080" y="1920240"/>
            <a:ext cx="2999232" cy="118872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869680" y="20574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54 min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69680" y="2651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of training, on this laptop</a:t>
            </a:r>
          </a:p>
        </p:txBody>
      </p:sp>
      <p:sp>
        <p:nvSpPr>
          <p:cNvPr id="10" name="Shape 10"/>
          <p:cNvSpPr/>
          <p:nvPr/>
        </p:nvSpPr>
        <p:spPr>
          <a:xfrm>
            <a:off x="8641080" y="3337560"/>
            <a:ext cx="2999232" cy="118872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869680" y="3474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5,958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69680" y="40690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labels from the owner's own behaviour</a:t>
            </a:r>
          </a:p>
        </p:txBody>
      </p:sp>
      <p:sp>
        <p:nvSpPr>
          <p:cNvPr id="13" name="Shape 13"/>
          <p:cNvSpPr/>
          <p:nvPr/>
        </p:nvSpPr>
        <p:spPr>
          <a:xfrm>
            <a:off x="8641080" y="4754880"/>
            <a:ext cx="2999232" cy="118872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869680" y="48920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3–5×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69680" y="54864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faster than the 14B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Checked answers. </a:t>
            </a:r>
            <a:r>
              <a:rPr lang="en-US" sz="3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Gated actions.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508760"/>
            <a:ext cx="5364328" cy="370332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14400" y="1783080"/>
            <a:ext cx="463280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ANSWERS CHECKED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2148840"/>
            <a:ext cx="463280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48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84% vs 6%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154680"/>
            <a:ext cx="4632808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right when the small judge vouches, vs when it doesn't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3840480"/>
            <a:ext cx="4632808" cy="1188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4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•  AUROC 0.92</a:t>
            </a:r>
          </a:p>
          <a:p>
            <a:pPr algn="l">
              <a:spcAft>
                <a:spcPts val="600"/>
              </a:spcAft>
            </a:pPr>
            <a:r>
              <a:rPr lang="en-US" sz="14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•  70% correct on 100 held-out questions</a:t>
            </a:r>
          </a:p>
        </p:txBody>
      </p:sp>
      <p:sp>
        <p:nvSpPr>
          <p:cNvPr id="10" name="Shape 10"/>
          <p:cNvSpPr/>
          <p:nvPr/>
        </p:nvSpPr>
        <p:spPr>
          <a:xfrm>
            <a:off x="6278728" y="1508760"/>
            <a:ext cx="5364328" cy="370332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6644488" y="1783080"/>
            <a:ext cx="463280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ACTIONS GATED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44488" y="2148840"/>
            <a:ext cx="463280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48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40.0% → 6.7%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44488" y="3154680"/>
            <a:ext cx="4632808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harmful side effects, 60 fresh sandbox tasks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44488" y="3840480"/>
            <a:ext cx="4632808" cy="1188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4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•  Code sets the risk · the 14B checks intent · you approve</a:t>
            </a:r>
          </a:p>
          <a:p>
            <a:pPr algn="l">
              <a:spcAft>
                <a:spcPts val="600"/>
              </a:spcAft>
            </a:pPr>
            <a:r>
              <a:rPr lang="en-US" sz="14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•  0.62 owner prompts per task (approve-all: 0.97)</a:t>
            </a:r>
          </a:p>
        </p:txBody>
      </p:sp>
      <p:sp>
        <p:nvSpPr>
          <p:cNvPr id="15" name="Shape 15"/>
          <p:cNvSpPr/>
          <p:nvPr/>
        </p:nvSpPr>
        <p:spPr>
          <a:xfrm>
            <a:off x="548640" y="5486400"/>
            <a:ext cx="11094415" cy="5029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48640" y="548640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400" b="0" i="1" dirty="0">
                <a:solidFill>
                  <a:srgbClr val="E6E6E6"/>
                </a:solidFill>
                <a:latin typeface="Calibri"/>
                <a:cs typeface="Calibri"/>
              </a:rPr>
              <a:t xml:space="preserve">A small model may raise suspicion, never grant permission.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What you </a:t>
            </a:r>
            <a:r>
              <a:rPr lang="en-US" sz="3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see</a:t>
            </a:r>
          </a:p>
        </p:txBody>
      </p:sp>
      <p:pic>
        <p:nvPicPr>
          <p:cNvPr id="5" name="Ask: answers with their sources" descr="Ask: answers with their sour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463040"/>
            <a:ext cx="3108960" cy="1943100"/>
          </a:xfrm>
          <a:prstGeom prst="roundRect">
            <a:avLst>
              <a:gd name="adj" fmla="val 4000"/>
            </a:avLst>
          </a:prstGeom>
          <a:ln w="12700">
            <a:solidFill>
              <a:srgbClr val="2C2C2C"/>
            </a:solidFill>
          </a:ln>
        </p:spPr>
      </p:pic>
      <p:sp>
        <p:nvSpPr>
          <p:cNvPr id="6" name="TextBox 6"/>
          <p:cNvSpPr txBox="1"/>
          <p:nvPr/>
        </p:nvSpPr>
        <p:spPr>
          <a:xfrm>
            <a:off x="1463040" y="34610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Ask: answers with their sources</a:t>
            </a:r>
          </a:p>
        </p:txBody>
      </p:sp>
      <p:pic>
        <p:nvPicPr>
          <p:cNvPr id="7" name="The brain as a 3D map, and SQL" descr="The brain as a 3D map, and SQ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63040"/>
            <a:ext cx="3108960" cy="1943100"/>
          </a:xfrm>
          <a:prstGeom prst="roundRect">
            <a:avLst>
              <a:gd name="adj" fmla="val 4000"/>
            </a:avLst>
          </a:prstGeom>
          <a:ln w="12700">
            <a:solidFill>
              <a:srgbClr val="2C2C2C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4846320" y="34610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The brain as a 3D map, and SQL</a:t>
            </a:r>
          </a:p>
        </p:txBody>
      </p:sp>
      <p:pic>
        <p:nvPicPr>
          <p:cNvPr id="9" name="Belief timeline: what changed, and when" descr="Belief timeline: what changed, and wh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3927348"/>
            <a:ext cx="3108960" cy="1943100"/>
          </a:xfrm>
          <a:prstGeom prst="roundRect">
            <a:avLst>
              <a:gd name="adj" fmla="val 4000"/>
            </a:avLst>
          </a:prstGeom>
          <a:ln w="12700">
            <a:solidFill>
              <a:srgbClr val="2C2C2C"/>
            </a:solidFill>
          </a:ln>
        </p:spPr>
      </p:pic>
      <p:sp>
        <p:nvSpPr>
          <p:cNvPr id="10" name="TextBox 10"/>
          <p:cNvSpPr txBox="1"/>
          <p:nvPr/>
        </p:nvSpPr>
        <p:spPr>
          <a:xfrm>
            <a:off x="1463040" y="59253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Belief timeline: what changed, and when</a:t>
            </a:r>
          </a:p>
        </p:txBody>
      </p:sp>
      <p:pic>
        <p:nvPicPr>
          <p:cNvPr id="11" name="Audit: every decision, chain verified" descr="Audit: every decision, chain verifi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927348"/>
            <a:ext cx="3108960" cy="1943100"/>
          </a:xfrm>
          <a:prstGeom prst="roundRect">
            <a:avLst>
              <a:gd name="adj" fmla="val 4000"/>
            </a:avLst>
          </a:prstGeom>
          <a:ln w="12700">
            <a:solidFill>
              <a:srgbClr val="2C2C2C"/>
            </a:solidFill>
          </a:ln>
        </p:spPr>
      </p:pic>
      <p:sp>
        <p:nvSpPr>
          <p:cNvPr id="12" name="TextBox 12"/>
          <p:cNvSpPr txBox="1"/>
          <p:nvPr/>
        </p:nvSpPr>
        <p:spPr>
          <a:xfrm>
            <a:off x="4846320" y="59253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Audit: every decision, chain verified</a:t>
            </a:r>
          </a:p>
        </p:txBody>
      </p:sp>
      <p:sp>
        <p:nvSpPr>
          <p:cNvPr id="13" name="Shape 13"/>
          <p:cNvSpPr/>
          <p:nvPr/>
        </p:nvSpPr>
        <p:spPr>
          <a:xfrm>
            <a:off x="8366760" y="1508760"/>
            <a:ext cx="2926080" cy="2926080"/>
          </a:xfrm>
          <a:prstGeom prst="ellipse">
            <a:avLst/>
          </a:prstGeom>
          <a:solidFill>
            <a:srgbClr val="0E0E0E"/>
          </a:solidFill>
          <a:ln w="381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778240" y="20756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Approve?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78240" y="23500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email.reply_email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23960" y="2697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reply “Got it, thank you!” to sofia</a:t>
            </a:r>
          </a:p>
        </p:txBody>
      </p:sp>
      <p:sp>
        <p:nvSpPr>
          <p:cNvPr id="17" name="Shape 17"/>
          <p:cNvSpPr/>
          <p:nvPr/>
        </p:nvSpPr>
        <p:spPr>
          <a:xfrm>
            <a:off x="8869680" y="329184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E6E6E6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869680" y="329184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Deny</a:t>
            </a:r>
          </a:p>
        </p:txBody>
      </p:sp>
      <p:sp>
        <p:nvSpPr>
          <p:cNvPr id="19" name="Shape 19"/>
          <p:cNvSpPr/>
          <p:nvPr/>
        </p:nvSpPr>
        <p:spPr>
          <a:xfrm>
            <a:off x="9875520" y="329184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9875520" y="329184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Approve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01000" y="4617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The watch  (Herald)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01000" y="49834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Approve on your wrist · ask by voice · reminders</a:t>
            </a:r>
          </a:p>
          <a:p>
            <a:pPr algn="ctr">
              <a:spcAft>
                <a:spcPts val="400"/>
              </a:spcAft>
            </a:pPr>
            <a:r>
              <a:rPr lang="en-US" sz="12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Ledgered 19 s after the gate paused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Sovereign by design. </a:t>
            </a:r>
            <a:r>
              <a:rPr lang="en-US" sz="32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New as a combination.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640" y="1417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ZERO CLOUD CALLS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8720" y="18288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Postgres + pgvector, on the Mac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8720" y="248716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Ollama + MLX models, on the Mac</a:t>
            </a:r>
          </a:p>
        </p:txBody>
      </p:sp>
      <p:sp>
        <p:nvSpPr>
          <p:cNvPr id="12" name="Shape 12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48640" y="31455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8720" y="3145536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Watch → Mac over local Wi-Fi</a:t>
            </a:r>
          </a:p>
        </p:txBody>
      </p:sp>
      <p:sp>
        <p:nvSpPr>
          <p:cNvPr id="15" name="Shape 15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48640" y="38039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8720" y="3803904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Every decision in a hash-chained ledger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4572000"/>
            <a:ext cx="4160520" cy="114300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777240" y="4709160"/>
            <a:ext cx="374904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India's DPDP Rules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7240" y="5047488"/>
            <a:ext cx="374904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1-year access logs · 72-hour breach reports · penalties up to ₹250 crore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03520" y="144475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A0A0A0"/>
                </a:solidFill>
                <a:latin typeface="Calibri"/>
                <a:cs typeface="Calibri"/>
              </a:rPr>
              <a:t xml:space="preserve">TOOL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75120" y="14447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A0A0A0"/>
                </a:solidFill>
                <a:latin typeface="Calibri"/>
                <a:cs typeface="Calibri"/>
              </a:rPr>
              <a:t xml:space="preserve">HOW IT WORKS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4040" y="14447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A0A0A0"/>
                </a:solidFill>
                <a:latin typeface="Calibri"/>
                <a:cs typeface="Calibri"/>
              </a:rPr>
              <a:t xml:space="preserve">WHERE IT BREAKS</a:t>
            </a:r>
          </a:p>
        </p:txBody>
      </p:sp>
      <p:sp>
        <p:nvSpPr>
          <p:cNvPr id="24" name="Shape 24"/>
          <p:cNvSpPr/>
          <p:nvPr/>
        </p:nvSpPr>
        <p:spPr>
          <a:xfrm>
            <a:off x="5120640" y="1828800"/>
            <a:ext cx="6519672" cy="841248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303520" y="1828800"/>
            <a:ext cx="123444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Mem0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75120" y="1828800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ADD-only memory; local server sunset (Jul 2026)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64040" y="1828800"/>
            <a:ext cx="20574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97.8% junk in a 10,134-memory audit</a:t>
            </a:r>
          </a:p>
        </p:txBody>
      </p:sp>
      <p:sp>
        <p:nvSpPr>
          <p:cNvPr id="28" name="Shape 28"/>
          <p:cNvSpPr/>
          <p:nvPr/>
        </p:nvSpPr>
        <p:spPr>
          <a:xfrm>
            <a:off x="5120640" y="2816352"/>
            <a:ext cx="6519672" cy="841248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5303520" y="2816352"/>
            <a:ext cx="123444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Graphiti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75120" y="2816352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a small-model judge updates facts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64040" y="2816352"/>
            <a:ext cx="20574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invalidated 41% of ~3,950 facts, silently</a:t>
            </a:r>
          </a:p>
        </p:txBody>
      </p:sp>
      <p:sp>
        <p:nvSpPr>
          <p:cNvPr id="32" name="Shape 32"/>
          <p:cNvSpPr/>
          <p:nvPr/>
        </p:nvSpPr>
        <p:spPr>
          <a:xfrm>
            <a:off x="5120640" y="3803904"/>
            <a:ext cx="6519672" cy="841248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5303520" y="3803904"/>
            <a:ext cx="123444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GBrain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75120" y="3803904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Postgres memory; LLM features hosted by default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64040" y="3803904"/>
            <a:ext cx="20574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no per-decision confidence</a:t>
            </a:r>
          </a:p>
        </p:txBody>
      </p:sp>
      <p:sp>
        <p:nvSpPr>
          <p:cNvPr id="36" name="Shape 36"/>
          <p:cNvSpPr/>
          <p:nvPr/>
        </p:nvSpPr>
        <p:spPr>
          <a:xfrm>
            <a:off x="5120640" y="4791456"/>
            <a:ext cx="6519672" cy="841248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22225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5303520" y="4791456"/>
            <a:ext cx="123444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Omnitrix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75120" y="4791456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calibrated local judge + ledger, all on your laptop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64040" y="4791456"/>
            <a:ext cx="20574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limits measured: see slide 8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Demo, </a:t>
            </a:r>
            <a:r>
              <a:rPr lang="en-US" sz="3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limits, next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371600"/>
            <a:ext cx="4572000" cy="425196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22960" y="16002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DEMO · 5 MINUTES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" y="2011680"/>
            <a:ext cx="4023360" cy="3474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1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Sign in to the kaminski brain</a:t>
            </a:r>
          </a:p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2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Ask: “Where and at what time did Vince suggest meeting Michael Garberding on Tuesday?”</a:t>
            </a:r>
          </a:p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3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Add an email with a promise → it becomes a belief</a:t>
            </a:r>
          </a:p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4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Act: “Forward my most recent email from fatima to kofi” → the watch buzzes → approve</a:t>
            </a:r>
          </a:p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5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Audit: newest ledger row is owner:watch → Verify chain</a:t>
            </a:r>
          </a:p>
        </p:txBody>
      </p:sp>
      <p:sp>
        <p:nvSpPr>
          <p:cNvPr id="8" name="Shape 8"/>
          <p:cNvSpPr/>
          <p:nvPr/>
        </p:nvSpPr>
        <p:spPr>
          <a:xfrm>
            <a:off x="5367528" y="1371600"/>
            <a:ext cx="3108960" cy="425196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641848" y="1600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LIMITS (MEASURED)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1848" y="2011680"/>
            <a:ext cx="2560320" cy="3474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•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“Will they reply?” is 60.1%, so it stays a suggestion</a:t>
            </a:r>
          </a:p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•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“Worth remembering?” gate: 72% (AUROC 0.80)</a:t>
            </a:r>
          </a:p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•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The watch uses plain HTTP on the LAN</a:t>
            </a:r>
          </a:p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•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Bluetooth on → the watch drops Wi-Fi when asleep</a:t>
            </a:r>
          </a:p>
        </p:txBody>
      </p:sp>
      <p:sp>
        <p:nvSpPr>
          <p:cNvPr id="11" name="Shape 11"/>
          <p:cNvSpPr/>
          <p:nvPr/>
        </p:nvSpPr>
        <p:spPr>
          <a:xfrm>
            <a:off x="8723376" y="1371600"/>
            <a:ext cx="2916936" cy="425196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997696" y="1600200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NEXT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97696" y="2011680"/>
            <a:ext cx="2368296" cy="3474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•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Adapter v2: + remember, meeting_request, fulfilled, contradicts</a:t>
            </a:r>
          </a:p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•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 learned “buzz now or later?” from your taps</a:t>
            </a:r>
          </a:p>
          <a:p>
            <a:pPr algn="l">
              <a:spcAft>
                <a:spcPts val="9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•   </a:t>
            </a: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TLS pinned at pairing</a:t>
            </a:r>
          </a:p>
        </p:txBody>
      </p:sp>
      <p:sp>
        <p:nvSpPr>
          <p:cNvPr id="14" name="Shape 14"/>
          <p:cNvSpPr/>
          <p:nvPr/>
        </p:nvSpPr>
        <p:spPr>
          <a:xfrm>
            <a:off x="548640" y="5806440"/>
            <a:ext cx="11094415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A0A0A0"/>
                </a:solidFill>
                <a:latin typeface="Calibri"/>
                <a:cs typeface="Calibri"/>
              </a:rPr>
              <a:t xml:space="preserve">Built this week:  </a:t>
            </a:r>
            <a:r>
              <a:rPr lang="en-US" sz="12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7,414 lines Python · 3,047 front end · 985 Kotlin · 15 SQL migrations · 113 tests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