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SOVEREIGN AI  ·  PERSONAL SECRETARY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200" b="1" i="0">
                <a:solidFill>
                  <a:srgbClr val="F0F6FC"/>
                </a:solidFill>
                <a:latin typeface="Calibri"/>
              </a:rPr>
              <a:t>Omnitrix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37560"/>
            <a:ext cx="94484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8B949E"/>
                </a:solidFill>
                <a:latin typeface="Calibri"/>
              </a:rPr>
              <a:t>A local AI secretary that remembers, plans, and acts — only with your 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047" y="425196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647" y="441655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46634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engram — sovereign local brain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425196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8527" y="441655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527" y="46634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MSRIT Hackathon · Track 1: Sovereign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1807" y="425196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407" y="441655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97316"/>
                </a:solidFill>
                <a:latin typeface="Calibri"/>
              </a:rPr>
              <a:t>FOOTPRINT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407" y="46634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100% local · zero cloud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02  ·  WHY OMNITRIX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Storing Data is Easy. Making Judgements is Hard.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6331" cy="3246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48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97316"/>
                </a:solidFill>
                <a:latin typeface="Calibri"/>
              </a:rPr>
              <a:t>TODAY'S MEMORY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6648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F6FC"/>
                </a:solidFill>
                <a:latin typeface="Calibri"/>
              </a:rPr>
              <a:t>Store first, judge never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66481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F97316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Mem0: 97.8% of 10,134 audited memories were junk</a:t>
            </a:r>
          </a:p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F97316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Graphiti: a small-model judge invalidated 41% of ~3,950 facts, silently</a:t>
            </a:r>
          </a:p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F97316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Local + cloud splits still leak private data on 7.5% of 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6723" y="1600200"/>
            <a:ext cx="5396331" cy="3246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2483" y="1874519"/>
            <a:ext cx="46648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Calibri"/>
              </a:rPr>
              <a:t>OMNITRIX SOVEREIGN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2483" y="2176272"/>
            <a:ext cx="46648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F6FC"/>
                </a:solidFill>
                <a:latin typeface="Calibri"/>
              </a:rPr>
              <a:t>Judge first,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2483" y="2880360"/>
            <a:ext cx="466481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Fine-tuned local System 1 (1.7B) makes the fast micro-judgements</a:t>
            </a:r>
          </a:p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System 2 (14B) takes complex reasoning and drafting</a:t>
            </a:r>
          </a:p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A human-in-the-loop gate before any action, with zero cloud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66360"/>
            <a:ext cx="11094415" cy="6858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1">
                <a:solidFill>
                  <a:srgbClr val="F0F6FC"/>
                </a:solidFill>
                <a:latin typeface="Calibri"/>
              </a:rPr>
              <a:t>The hard part isn't storing things. It's the thousands of small judgements.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03  ·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One Laptop. One Brain. Seven Roles.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7755" y="1664208"/>
            <a:ext cx="5617342" cy="1874519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74915" y="1737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Calibri"/>
              </a:rPr>
              <a:t>ENGRAM  ·  THE BRAIN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B949E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Email · Notes · Meetings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85416" y="2720340"/>
            <a:ext cx="225491" cy="0"/>
          </a:xfrm>
          <a:prstGeom prst="line">
            <a:avLst/>
          </a:prstGeom>
          <a:ln w="19050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47483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Calibri"/>
              </a:rPr>
              <a:t>S0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Code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Parse, dedupe, dates, rules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84259" y="2720340"/>
            <a:ext cx="225491" cy="0"/>
          </a:xfrm>
          <a:prstGeom prst="line">
            <a:avLst/>
          </a:prstGeom>
          <a:ln w="19050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6326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0918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Calibri"/>
              </a:rPr>
              <a:t>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0918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Small 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0918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Fine-tuned 1.7B, one token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3102" y="2720340"/>
            <a:ext cx="225491" cy="0"/>
          </a:xfrm>
          <a:prstGeom prst="line">
            <a:avLst/>
          </a:prstGeom>
          <a:ln w="19050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45169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761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Calibri"/>
              </a:rPr>
              <a:t>S2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761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14B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761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The unsure middle, all writing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81945" y="2720340"/>
            <a:ext cx="225491" cy="0"/>
          </a:xfrm>
          <a:prstGeom prst="line">
            <a:avLst/>
          </a:prstGeom>
          <a:ln w="19050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44012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8604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97316"/>
                </a:solidFill>
                <a:latin typeface="Calibri"/>
              </a:rPr>
              <a:t>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8604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Your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8604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Herald watch or web app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80788" y="2720340"/>
            <a:ext cx="225491" cy="0"/>
          </a:xfrm>
          <a:prstGeom prst="line">
            <a:avLst/>
          </a:prstGeom>
          <a:ln w="19050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042855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07447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99"/>
                </a:solidFill>
                <a:latin typeface="Calibri"/>
              </a:rPr>
              <a:t>LEDGER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7447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Audit ledger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07447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Hash-chained, every 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31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B949E"/>
                </a:solidFill>
                <a:latin typeface="Calibri"/>
              </a:rPr>
              <a:t>7 FUNCTIONAL ROLES ON ONE PIPELINE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Librarian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Ingests and files everything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59682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96842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Researcher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96842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Answers with cited sources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70724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07884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Memory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7884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Keeps promises and decisions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81766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18926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Planner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18926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Plans your day with a solver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92808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29968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Operator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29968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Acts in your tools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03850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41010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Guardian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41010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Gates every action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14893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52053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Herald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52053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Reaches you on the 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04  ·  LOCAL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A 1.7B Fine-Tuned Model Beats a 14B General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454298" cy="2240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281421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38BDF8"/>
                </a:solidFill>
                <a:latin typeface="Calibri"/>
              </a:rPr>
              <a:t>54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2814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0F6FC"/>
                </a:solidFill>
                <a:latin typeface="Calibri"/>
              </a:rPr>
              <a:t>Local LoRA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90672"/>
            <a:ext cx="28142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on the Mac with MLX, peak 18 GB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0200"/>
            <a:ext cx="3454298" cy="2240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8738" y="1810512"/>
            <a:ext cx="281421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34D399"/>
                </a:solidFill>
                <a:latin typeface="Calibri"/>
              </a:rPr>
              <a:t>5,958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8738" y="2724912"/>
            <a:ext cx="2814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0F6FC"/>
                </a:solidFill>
                <a:latin typeface="Calibri"/>
              </a:rPr>
              <a:t>Behavioural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8738" y="3090672"/>
            <a:ext cx="28142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from the owner's own replies and filing, and EnronQA answers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8756" y="1600200"/>
            <a:ext cx="3454298" cy="2240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8796" y="1810512"/>
            <a:ext cx="281421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97316"/>
                </a:solidFill>
                <a:latin typeface="Calibri"/>
              </a:rPr>
              <a:t>3–5×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8796" y="2724912"/>
            <a:ext cx="2814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0F6FC"/>
                </a:solidFill>
                <a:latin typeface="Calibri"/>
              </a:rPr>
              <a:t>Faster than the 14B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8796" y="3090672"/>
            <a:ext cx="28142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zero-shot, on the same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11094415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103628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WHY A SMALL LOCAL JUDGE WINS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0F6FC"/>
                </a:solidFill>
                <a:latin typeface="Calibri"/>
              </a:rPr>
              <a:t>Trained on four decisions, the fine-tuned 1.7B beats the zero-shot 14B on every one: supported? 96.6% vs 95.5% · relevant? 90.9% vs 87.5% · will reply? 60.1% vs 55.4% · folder 52.7% vs 47.9%.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8B949E"/>
                </a:solidFill>
                <a:latin typeface="Calibri"/>
              </a:rPr>
              <a:t>Fused and quantized to 4-bit it is a 934 MB model, 2.9× faster again with no loss in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05  ·  VERIFICATION &amp; GATED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Checked Answers. Gated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6331" cy="3429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48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Calibri"/>
              </a:rPr>
              <a:t>ANSWERS CHECKED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66481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0F6FC"/>
                </a:solidFill>
                <a:latin typeface="Calibri"/>
              </a:rPr>
              <a:t>84% vs 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46648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8B949E"/>
                </a:solidFill>
                <a:latin typeface="Calibri"/>
              </a:rPr>
              <a:t>right when the small judge vouches vs when it doesn't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66481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400" b="0" i="0">
                <a:solidFill>
                  <a:srgbClr val="F0F6FC"/>
                </a:solidFill>
                <a:latin typeface="Calibri"/>
              </a:rPr>
              <a:t>AUROC 0.92 on 100 held-out questions</a:t>
            </a:r>
          </a:p>
          <a:p>
            <a:pPr algn="l">
              <a:spcAft>
                <a:spcPts val="800"/>
              </a:spcAft>
            </a:pPr>
            <a:r>
              <a:rPr sz="9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400" b="0" i="0">
                <a:solidFill>
                  <a:srgbClr val="F0F6FC"/>
                </a:solidFill>
                <a:latin typeface="Calibri"/>
              </a:rPr>
              <a:t>The local judge checks each answer against the emails it cites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6723" y="1600200"/>
            <a:ext cx="5396331" cy="3429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2483" y="1874519"/>
            <a:ext cx="46648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97316"/>
                </a:solidFill>
                <a:latin typeface="Calibri"/>
              </a:rPr>
              <a:t>ACTIONS GATED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2483" y="2176272"/>
            <a:ext cx="466481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0F6FC"/>
                </a:solidFill>
                <a:latin typeface="Calibri"/>
              </a:rPr>
              <a:t>40.0% → 6.7%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2483" y="3035808"/>
            <a:ext cx="46648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8B949E"/>
                </a:solidFill>
                <a:latin typeface="Calibri"/>
              </a:rPr>
              <a:t>harmful side effects on 60 fresh sandbox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2483" y="3657600"/>
            <a:ext cx="466481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1" i="0">
                <a:solidFill>
                  <a:srgbClr val="F97316"/>
                </a:solidFill>
                <a:latin typeface="Calibri"/>
              </a:rPr>
              <a:t>●   </a:t>
            </a:r>
            <a:r>
              <a:rPr sz="1400" b="0" i="0">
                <a:solidFill>
                  <a:srgbClr val="F0F6FC"/>
                </a:solidFill>
                <a:latin typeface="Calibri"/>
              </a:rPr>
              <a:t>0.62 owner prompts per task (approve-all: 0.97)</a:t>
            </a:r>
          </a:p>
          <a:p>
            <a:pPr algn="l">
              <a:spcAft>
                <a:spcPts val="800"/>
              </a:spcAft>
            </a:pPr>
            <a:r>
              <a:rPr sz="900" b="1" i="0">
                <a:solidFill>
                  <a:srgbClr val="F97316"/>
                </a:solidFill>
                <a:latin typeface="Calibri"/>
              </a:rPr>
              <a:t>●   </a:t>
            </a:r>
            <a:r>
              <a:rPr sz="1400" b="0" i="0">
                <a:solidFill>
                  <a:srgbClr val="F0F6FC"/>
                </a:solidFill>
                <a:latin typeface="Calibri"/>
              </a:rPr>
              <a:t>Code sets the risk · the 14B checks intent · you approve</a:t>
            </a:r>
          </a:p>
          <a:p>
            <a:pPr algn="l">
              <a:spcAft>
                <a:spcPts val="800"/>
              </a:spcAft>
            </a:pPr>
            <a:r>
              <a:rPr sz="900" b="1" i="0">
                <a:solidFill>
                  <a:srgbClr val="F97316"/>
                </a:solidFill>
                <a:latin typeface="Calibri"/>
              </a:rPr>
              <a:t>●   </a:t>
            </a:r>
            <a:r>
              <a:rPr sz="1400" b="0" i="0">
                <a:solidFill>
                  <a:srgbClr val="F0F6FC"/>
                </a:solidFill>
                <a:latin typeface="Calibri"/>
              </a:rPr>
              <a:t>Herald on Wear OS: approved on the wrist, ledgered 19 s after the gate paused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03520"/>
            <a:ext cx="11094415" cy="64008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1">
                <a:solidFill>
                  <a:srgbClr val="F0F6FC"/>
                </a:solidFill>
                <a:latin typeface="Calibri"/>
              </a:rPr>
              <a:t>A small model may raise suspicion, never grant permission.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06  ·  WHAT YOU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Interface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B949E"/>
                </a:solidFill>
                <a:latin typeface="Calibri"/>
              </a:rPr>
              <a:t>Local web dashboard, constellation graph and cryptographic audit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5396331" cy="2011680"/>
          </a:xfrm>
          <a:prstGeom prst="roundRect">
            <a:avLst>
              <a:gd name="adj" fmla="val 4000"/>
            </a:avLst>
          </a:prstGeom>
          <a:solidFill>
            <a:srgbClr val="0B0F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80-dark-06-answer.png"/>
          <p:cNvPicPr>
            <a:picLocks noChangeAspect="1"/>
          </p:cNvPicPr>
          <p:nvPr/>
        </p:nvPicPr>
        <p:blipFill>
          <a:blip r:embed="rId2"/>
          <a:srcRect b="20000"/>
          <a:stretch>
            <a:fillRect/>
          </a:stretch>
        </p:blipFill>
        <p:spPr>
          <a:xfrm>
            <a:off x="1381429" y="1645920"/>
            <a:ext cx="3730752" cy="1865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657600"/>
            <a:ext cx="53963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0F6FC"/>
                </a:solidFill>
                <a:latin typeface="Calibri"/>
              </a:rPr>
              <a:t>Constellation Graph (3D Memory Map)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6723" y="1572768"/>
            <a:ext cx="5396331" cy="2011680"/>
          </a:xfrm>
          <a:prstGeom prst="roundRect">
            <a:avLst>
              <a:gd name="adj" fmla="val 4000"/>
            </a:avLst>
          </a:prstGeom>
          <a:solidFill>
            <a:srgbClr val="0B0F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280-dark-07-atlas.png"/>
          <p:cNvPicPr>
            <a:picLocks noChangeAspect="1"/>
          </p:cNvPicPr>
          <p:nvPr/>
        </p:nvPicPr>
        <p:blipFill>
          <a:blip r:embed="rId3"/>
          <a:srcRect b="20000"/>
          <a:stretch>
            <a:fillRect/>
          </a:stretch>
        </p:blipFill>
        <p:spPr>
          <a:xfrm>
            <a:off x="7079513" y="1645920"/>
            <a:ext cx="3730752" cy="1865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6723" y="3657600"/>
            <a:ext cx="53963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0F6FC"/>
                </a:solidFill>
                <a:latin typeface="Calibri"/>
              </a:rPr>
              <a:t>Schema Atlas &amp; SQL Inspector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95928"/>
            <a:ext cx="5396331" cy="2011680"/>
          </a:xfrm>
          <a:prstGeom prst="roundRect">
            <a:avLst>
              <a:gd name="adj" fmla="val 4000"/>
            </a:avLst>
          </a:prstGeom>
          <a:solidFill>
            <a:srgbClr val="0B0F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280-dark-09-agents.png"/>
          <p:cNvPicPr>
            <a:picLocks noChangeAspect="1"/>
          </p:cNvPicPr>
          <p:nvPr/>
        </p:nvPicPr>
        <p:blipFill>
          <a:blip r:embed="rId4"/>
          <a:srcRect b="20000"/>
          <a:stretch>
            <a:fillRect/>
          </a:stretch>
        </p:blipFill>
        <p:spPr>
          <a:xfrm>
            <a:off x="1381429" y="4069080"/>
            <a:ext cx="3730752" cy="1865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080760"/>
            <a:ext cx="53963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0F6FC"/>
                </a:solidFill>
                <a:latin typeface="Calibri"/>
              </a:rPr>
              <a:t>Bitemporal Belief Timeline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6723" y="3995928"/>
            <a:ext cx="5396331" cy="2011680"/>
          </a:xfrm>
          <a:prstGeom prst="roundRect">
            <a:avLst>
              <a:gd name="adj" fmla="val 4000"/>
            </a:avLst>
          </a:prstGeom>
          <a:solidFill>
            <a:srgbClr val="0B0F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280-dark-16-audit-verified.png"/>
          <p:cNvPicPr>
            <a:picLocks noChangeAspect="1"/>
          </p:cNvPicPr>
          <p:nvPr/>
        </p:nvPicPr>
        <p:blipFill>
          <a:blip r:embed="rId5"/>
          <a:srcRect b="20000"/>
          <a:stretch>
            <a:fillRect/>
          </a:stretch>
        </p:blipFill>
        <p:spPr>
          <a:xfrm>
            <a:off x="7079513" y="4069080"/>
            <a:ext cx="3730752" cy="1865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46723" y="6080760"/>
            <a:ext cx="53963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0F6FC"/>
                </a:solidFill>
                <a:latin typeface="Calibri"/>
              </a:rPr>
              <a:t>Tamper-Evident Cryptographic Audit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07  ·  SOVEREIGN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Sovereign by Design. Ready for DPDP.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B949E"/>
                </a:solidFill>
                <a:latin typeface="Calibri"/>
              </a:rPr>
              <a:t>India's DPDP Rules: 1-year access logs · 72-hour breach reports · penalties up to ₹250 crore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02153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14495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214495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F6FC"/>
                </a:solidFill>
                <a:latin typeface="Calibri"/>
              </a:rPr>
              <a:t>Postgres + pgvector local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9393" y="1600200"/>
            <a:ext cx="2602153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7993" y="1737360"/>
            <a:ext cx="214495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7993" y="1984248"/>
            <a:ext cx="214495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F6FC"/>
                </a:solidFill>
                <a:latin typeface="Calibri"/>
              </a:rPr>
              <a:t>Ollama + MLX local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600200"/>
            <a:ext cx="2602153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747" y="1737360"/>
            <a:ext cx="214495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1984248"/>
            <a:ext cx="214495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F6FC"/>
                </a:solidFill>
                <a:latin typeface="Calibri"/>
              </a:rPr>
              <a:t>Direct Wi-Fi Wear OS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0901" y="1600200"/>
            <a:ext cx="2602153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9501" y="1737360"/>
            <a:ext cx="214495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9501" y="1984248"/>
            <a:ext cx="214495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F6FC"/>
                </a:solidFill>
                <a:latin typeface="Calibri"/>
              </a:rPr>
              <a:t>Hash-chained audit ledger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2834640"/>
          <a:ext cx="11094415" cy="3008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2743200"/>
                <a:gridCol w="3337560"/>
                <a:gridCol w="3596335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  <a:latin typeface="Calibri"/>
                        </a:rPr>
                        <a:t>KNOWN VULNERABILITY / LIMITATION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  <a:latin typeface="Calibri"/>
                        </a:rPr>
                        <a:t>OMNITRIX ADVANTAGE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0F6FC"/>
                          </a:solidFill>
                          <a:latin typeface="Calibri"/>
                        </a:rPr>
                        <a:t>Mem0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ADD-only memory; local server sunset (Jul 2026)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97.8% junk in a 10,134-memory audit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D399"/>
                          </a:solidFill>
                          <a:latin typeface="Calibri"/>
                        </a:rPr>
                        <a:t>Small-judge write gate: 151 → 36 beliefs on 60 emails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0F6FC"/>
                          </a:solidFill>
                          <a:latin typeface="Calibri"/>
                        </a:rPr>
                        <a:t>Graphiti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A small-model judge updates facts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Invalidated 41% of ~3,950 facts, silently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D399"/>
                          </a:solidFill>
                          <a:latin typeface="Calibri"/>
                        </a:rPr>
                        <a:t>Contradictions are shown to you, never silently retired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0F6FC"/>
                          </a:solidFill>
                          <a:latin typeface="Calibri"/>
                        </a:rPr>
                        <a:t>GBrain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Postgres memory; LLM features hosted by default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No per-decision confidence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D399"/>
                          </a:solidFill>
                          <a:latin typeface="Calibri"/>
                        </a:rPr>
                        <a:t>A calibrated probability on every decision, in the ledger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Omnitrix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Fine-tuned local judge + 14B + hash-chained ledger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Measured weak spot: the “worth remembering?” gate is 72%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D399"/>
                          </a:solidFill>
                          <a:latin typeface="Calibri"/>
                        </a:rPr>
                        <a:t>All local; every decision auditable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