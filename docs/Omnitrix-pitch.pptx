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charts/chart2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99" Type="http://schemas.openxmlformats.org/officeDocument/2006/relationships/slide" Target="slides/slide9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1.7B base</c:v>
                </c:pt>
              </c:strCache>
            </c:strRef>
          </c:tx>
          <c:spPr>
            <a:solidFill>
              <a:srgbClr val="5A5A5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Supported?</c:v>
                </c:pt>
                <c:pt idx="1">
                  <c:v>Relevant?</c:v>
                </c:pt>
                <c:pt idx="2">
                  <c:v>Will reply?</c:v>
                </c:pt>
                <c:pt idx="3">
                  <c:v>Folder (12)?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</c:v>
                </c:pt>
                <c:pt idx="1">
                  <c:v>74.4</c:v>
                </c:pt>
                <c:pt idx="2">
                  <c:v>44.6</c:v>
                </c:pt>
                <c:pt idx="3">
                  <c:v>31.5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14B zero-shot</c:v>
                </c:pt>
              </c:strCache>
            </c:strRef>
          </c:tx>
          <c:spPr>
            <a:solidFill>
              <a:srgbClr val="A0A0A0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Supported?</c:v>
                </c:pt>
                <c:pt idx="1">
                  <c:v>Relevant?</c:v>
                </c:pt>
                <c:pt idx="2">
                  <c:v>Will reply?</c:v>
                </c:pt>
                <c:pt idx="3">
                  <c:v>Folder (12)?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95.5</c:v>
                </c:pt>
                <c:pt idx="1">
                  <c:v>87.5</c:v>
                </c:pt>
                <c:pt idx="2">
                  <c:v>55.4</c:v>
                </c:pt>
                <c:pt idx="3">
                  <c:v>47.9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1.7B fine-tuned on you</c:v>
                </c:pt>
              </c:strCache>
            </c:strRef>
          </c:tx>
          <c:spPr>
            <a:solidFill>
              <a:srgbClr val="F5B301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Supported?</c:v>
                </c:pt>
                <c:pt idx="1">
                  <c:v>Relevant?</c:v>
                </c:pt>
                <c:pt idx="2">
                  <c:v>Will reply?</c:v>
                </c:pt>
                <c:pt idx="3">
                  <c:v>Folder (12)?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96.6</c:v>
                </c:pt>
                <c:pt idx="1">
                  <c:v>90.9</c:v>
                </c:pt>
                <c:pt idx="2">
                  <c:v>60.1</c:v>
                </c:pt>
                <c:pt idx="3">
                  <c:v>52.7</c:v>
                </c:pt>
              </c:numCache>
            </c:numRef>
          </c:val>
        </c:ser>
        <c:dLbls>
          <c:numFmt formatCode="0.0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000" b="1">
                  <a:solidFill>
                    <a:srgbClr val="E6E6E6"/>
                  </a:solidFill>
                  <a:latin typeface="Calibri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8"/>
        <c:axId val="5001"/>
        <c:axId val="5002"/>
      </c:barChart>
      <c:catAx>
        <c:axId val="5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2C2C2C"/>
            </a:solidFill>
          </a:ln>
        </c:spPr>
        <c:txPr>
          <a:bodyPr/>
          <a:lstStyle/>
          <a:p>
            <a:pPr>
              <a:defRPr sz="1000" b="0">
                <a:solidFill>
                  <a:srgbClr val="E6E6E6"/>
                </a:solidFill>
                <a:latin typeface="Calibri"/>
              </a:defRPr>
            </a:pPr>
            <a:endParaRPr lang="en-US"/>
          </a:p>
        </c:txPr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orientation val="minMax"/>
          <c:max val="110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  <c:spPr>
        <a:noFill/>
      </c:spPr>
    </c:plotArea>
    <c:legend>
      <c:legendPos val="t"/>
      <c:overlay val="0"/>
      <c:txPr>
        <a:bodyPr/>
        <a:lstStyle/>
        <a:p>
          <a:pPr>
            <a:defRPr sz="1000" b="0">
              <a:solidFill>
                <a:srgbClr val="E6E6E6"/>
              </a:solidFill>
              <a:latin typeface="Calibri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milliseconds</c:v>
                </c:pt>
              </c:strCache>
            </c:strRef>
          </c:tx>
          <c:spPr>
            <a:solidFill>
              <a:srgbClr val="A0A0A0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Keyword search</c:v>
                </c:pt>
                <c:pt idx="1">
                  <c:v>Searchable after add</c:v>
                </c:pt>
                <c:pt idx="2">
                  <c:v>Hybrid search</c:v>
                </c:pt>
                <c:pt idx="3">
                  <c:v>Small judge, per email</c:v>
                </c:pt>
                <c:pt idx="4">
                  <c:v>Whisper, 2.5 s clip</c:v>
                </c:pt>
                <c:pt idx="5">
                  <c:v>Answer, draft mode</c:v>
                </c:pt>
                <c:pt idx="6">
                  <c:v>Answer, median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1.9</c:v>
                </c:pt>
                <c:pt idx="1">
                  <c:v>13</c:v>
                </c:pt>
                <c:pt idx="2">
                  <c:v>28</c:v>
                </c:pt>
                <c:pt idx="3">
                  <c:v>214</c:v>
                </c:pt>
                <c:pt idx="4">
                  <c:v>500</c:v>
                </c:pt>
                <c:pt idx="5">
                  <c:v>1700</c:v>
                </c:pt>
                <c:pt idx="6">
                  <c:v>11000</c:v>
                </c:pt>
              </c:numCache>
            </c:numRef>
          </c:val>
        </c:ser>
        <c:dLbls>
          <c:numFmt formatCode="[&lt;10]0.0&quot; ms&quot;;[&lt;1000]0&quot; ms&quot;;#,##0&quot; ms&quot;" sourceLinked="0"/>
          <c:spPr>
            <a:noFill/>
            <a:ln>
              <a:noFill/>
            </a:ln>
          </c:spPr>
          <c:txPr>
            <a:bodyPr/>
            <a:lstStyle/>
            <a:p>
              <a:pPr>
                <a:defRPr sz="1000" b="1">
                  <a:solidFill>
                    <a:srgbClr val="E6E6E6"/>
                  </a:solidFill>
                  <a:latin typeface="Calibri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8"/>
        <c:axId val="5001"/>
        <c:axId val="5002"/>
      </c:barChart>
      <c:catAx>
        <c:axId val="500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2C2C2C"/>
            </a:solidFill>
          </a:ln>
        </c:spPr>
        <c:txPr>
          <a:bodyPr/>
          <a:lstStyle/>
          <a:p>
            <a:pPr>
              <a:defRPr sz="1000" b="0">
                <a:solidFill>
                  <a:srgbClr val="E6E6E6"/>
                </a:solidFill>
                <a:latin typeface="Calibri"/>
              </a:defRPr>
            </a:pPr>
            <a:endParaRPr lang="en-US"/>
          </a:p>
        </c:txPr>
        <c:crossAx val="5002"/>
        <c:crosses val="autoZero"/>
        <c:auto val="1"/>
        <c:lblAlgn val="ctr"/>
        <c:lblOffset val="100"/>
        <c:noMultiLvlLbl val="0"/>
      </c:catAx>
      <c:valAx>
        <c:axId val="5002"/>
        <c:scaling>
          <c:logBase val="10"/>
          <c:orientation val="minMax"/>
          <c:max val="100000"/>
          <c:min val="1"/>
        </c:scaling>
        <c:delete val="1"/>
        <c:axPos val="b"/>
        <c:numFmt formatCode="General" sourceLinked="1"/>
        <c:majorTickMark val="none"/>
        <c:minorTickMark val="none"/>
        <c:tickLblPos val="nextTo"/>
        <c:crossAx val="5001"/>
        <c:crosses val="autoZero"/>
        <c:crossBetween val="between"/>
      </c:valAx>
      <c:spPr>
        <a:noFill/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views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2.xml"/><Relationship Id="rId4" Type="http://schemas.openxmlformats.org/officeDocument/2006/relationships/image" Target="../media/login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8640" y="178308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SOVEREIGN AI  ·  PERSONAL SECRETARY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205740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6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Omni</a:t>
            </a:r>
            <a:r>
              <a:rPr lang="en-US" sz="66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trix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1600" y="3246120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A local AI secretary that remembers, plans and acts, only with your OK.</a:t>
            </a:r>
          </a:p>
        </p:txBody>
      </p:sp>
      <p:sp>
        <p:nvSpPr>
          <p:cNvPr id="6" name="Shape 6"/>
          <p:cNvSpPr/>
          <p:nvPr/>
        </p:nvSpPr>
        <p:spPr>
          <a:xfrm>
            <a:off x="2621128" y="41605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621128" y="41605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Brain: engram</a:t>
            </a:r>
          </a:p>
        </p:txBody>
      </p:sp>
      <p:sp>
        <p:nvSpPr>
          <p:cNvPr id="8" name="Shape 8"/>
          <p:cNvSpPr/>
          <p:nvPr/>
        </p:nvSpPr>
        <p:spPr>
          <a:xfrm>
            <a:off x="4907127" y="41605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907127" y="41605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Track 1 · Sovereign AI</a:t>
            </a:r>
          </a:p>
        </p:txBody>
      </p:sp>
      <p:sp>
        <p:nvSpPr>
          <p:cNvPr id="10" name="Shape 10"/>
          <p:cNvSpPr/>
          <p:nvPr/>
        </p:nvSpPr>
        <p:spPr>
          <a:xfrm>
            <a:off x="7558888" y="41605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7558888" y="41605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MSRIT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Storing is easy. </a:t>
            </a:r>
            <a:r>
              <a:rPr lang="en-US" sz="36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Judging is hard.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45920" y="1207008"/>
            <a:ext cx="8899855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5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Your work lives in email, meetings and notes. Today's AI memory tools get the small judgements wrong.</a:t>
            </a:r>
          </a:p>
        </p:txBody>
      </p:sp>
      <p:sp>
        <p:nvSpPr>
          <p:cNvPr id="5" name="Shape 5"/>
          <p:cNvSpPr/>
          <p:nvPr/>
        </p:nvSpPr>
        <p:spPr>
          <a:xfrm>
            <a:off x="655167" y="1920240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2072487" y="2148840"/>
            <a:ext cx="548640" cy="502920"/>
          </a:xfrm>
          <a:prstGeom prst="can">
            <a:avLst/>
          </a:prstGeom>
          <a:noFill/>
          <a:ln w="19050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8047" y="27432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5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97.8%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3767" y="3611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of Mem0 memories were junk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9487" y="40690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audit of 10,134 memories</a:t>
            </a:r>
          </a:p>
        </p:txBody>
      </p:sp>
      <p:sp>
        <p:nvSpPr>
          <p:cNvPr id="10" name="Shape 10"/>
          <p:cNvSpPr/>
          <p:nvPr/>
        </p:nvSpPr>
        <p:spPr>
          <a:xfrm>
            <a:off x="4404208" y="1920240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821528" y="2148840"/>
            <a:ext cx="548640" cy="502920"/>
          </a:xfrm>
          <a:prstGeom prst="noSmoking">
            <a:avLst/>
          </a:prstGeom>
          <a:noFill/>
          <a:ln w="19050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4587088" y="27432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5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41%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32808" y="3611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of Graphiti facts invalidated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78527" y="40690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~3,950 facts; 3 of 4 audited were wrong</a:t>
            </a:r>
          </a:p>
        </p:txBody>
      </p:sp>
      <p:sp>
        <p:nvSpPr>
          <p:cNvPr id="15" name="Shape 15"/>
          <p:cNvSpPr/>
          <p:nvPr/>
        </p:nvSpPr>
        <p:spPr>
          <a:xfrm>
            <a:off x="8153248" y="1920240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9570568" y="2148840"/>
            <a:ext cx="548640" cy="502920"/>
          </a:xfrm>
          <a:prstGeom prst="cloud">
            <a:avLst/>
          </a:prstGeom>
          <a:noFill/>
          <a:ln w="19050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8336127" y="27432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5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7.5%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81848" y="36118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of queries leaked private data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27568" y="40690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even careful local + cloud (PAPILLON)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5257800"/>
            <a:ext cx="11094415" cy="566928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548640" y="5257800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500" b="0" i="1" dirty="0">
                <a:solidFill>
                  <a:srgbClr val="E6E6E6"/>
                </a:solidFill>
                <a:latin typeface="Calibri"/>
                <a:cs typeface="Calibri"/>
              </a:rPr>
              <a:t xml:space="preserve">Remember this?  Did it change?  Should it be sent?  Thousands of small judgements a day.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Our answer: </a:t>
            </a:r>
            <a:r>
              <a:rPr lang="en-US" sz="36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a personal AI you own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2072579" cy="146304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777240" y="1600200"/>
            <a:ext cx="438912" cy="438912"/>
          </a:xfrm>
          <a:prstGeom prst="ellipse">
            <a:avLst/>
          </a:prstGeom>
          <a:solidFill>
            <a:srgbClr val="0E0E0E"/>
          </a:solidFill>
          <a:ln w="15875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77240" y="160020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240" y="2130552"/>
            <a:ext cx="1706819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Personal 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240" y="2450592"/>
            <a:ext cx="1706819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learns how you judge</a:t>
            </a:r>
          </a:p>
        </p:txBody>
      </p:sp>
      <p:sp>
        <p:nvSpPr>
          <p:cNvPr id="9" name="Shape 9"/>
          <p:cNvSpPr/>
          <p:nvPr/>
        </p:nvSpPr>
        <p:spPr>
          <a:xfrm>
            <a:off x="2804099" y="1417320"/>
            <a:ext cx="2072579" cy="146304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3032699" y="1600200"/>
            <a:ext cx="438912" cy="438912"/>
          </a:xfrm>
          <a:prstGeom prst="ellipse">
            <a:avLst/>
          </a:prstGeom>
          <a:solidFill>
            <a:srgbClr val="0E0E0E"/>
          </a:solidFill>
          <a:ln w="15875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032699" y="160020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32699" y="2130552"/>
            <a:ext cx="1706819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Locally hosted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32699" y="2450592"/>
            <a:ext cx="1706819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zero cloud calls</a:t>
            </a:r>
          </a:p>
        </p:txBody>
      </p:sp>
      <p:sp>
        <p:nvSpPr>
          <p:cNvPr id="14" name="Shape 14"/>
          <p:cNvSpPr/>
          <p:nvPr/>
        </p:nvSpPr>
        <p:spPr>
          <a:xfrm>
            <a:off x="5059558" y="1417320"/>
            <a:ext cx="2072579" cy="146304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288158" y="1600200"/>
            <a:ext cx="438912" cy="438912"/>
          </a:xfrm>
          <a:prstGeom prst="ellipse">
            <a:avLst/>
          </a:prstGeom>
          <a:solidFill>
            <a:srgbClr val="0E0E0E"/>
          </a:solidFill>
          <a:ln w="15875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288158" y="160020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88158" y="2130552"/>
            <a:ext cx="1706819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Fine-tuned LLM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88158" y="2450592"/>
            <a:ext cx="1706819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a 1.7B trained on you</a:t>
            </a:r>
          </a:p>
        </p:txBody>
      </p:sp>
      <p:sp>
        <p:nvSpPr>
          <p:cNvPr id="19" name="Shape 19"/>
          <p:cNvSpPr/>
          <p:nvPr/>
        </p:nvSpPr>
        <p:spPr>
          <a:xfrm>
            <a:off x="7315017" y="1417320"/>
            <a:ext cx="2072579" cy="146304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7543617" y="1600200"/>
            <a:ext cx="438912" cy="438912"/>
          </a:xfrm>
          <a:prstGeom prst="ellipse">
            <a:avLst/>
          </a:prstGeom>
          <a:solidFill>
            <a:srgbClr val="0E0E0E"/>
          </a:solidFill>
          <a:ln w="15875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7543617" y="160020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43617" y="2130552"/>
            <a:ext cx="1706819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Society of LLMs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43617" y="2450592"/>
            <a:ext cx="1706819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fast small, slow large, and you</a:t>
            </a:r>
          </a:p>
        </p:txBody>
      </p:sp>
      <p:sp>
        <p:nvSpPr>
          <p:cNvPr id="24" name="Shape 24"/>
          <p:cNvSpPr/>
          <p:nvPr/>
        </p:nvSpPr>
        <p:spPr>
          <a:xfrm>
            <a:off x="9570476" y="1417320"/>
            <a:ext cx="2072579" cy="146304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Shape 25"/>
          <p:cNvSpPr/>
          <p:nvPr/>
        </p:nvSpPr>
        <p:spPr>
          <a:xfrm>
            <a:off x="9799076" y="1600200"/>
            <a:ext cx="438912" cy="438912"/>
          </a:xfrm>
          <a:prstGeom prst="ellipse">
            <a:avLst/>
          </a:prstGeom>
          <a:solidFill>
            <a:srgbClr val="0E0E0E"/>
          </a:solidFill>
          <a:ln w="15875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9799076" y="160020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99076" y="2130552"/>
            <a:ext cx="1706819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Second brain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99076" y="2450592"/>
            <a:ext cx="1706819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memory with its sources</a:t>
            </a:r>
          </a:p>
        </p:txBody>
      </p:sp>
      <p:sp>
        <p:nvSpPr>
          <p:cNvPr id="29" name="Shape 29"/>
          <p:cNvSpPr/>
          <p:nvPr/>
        </p:nvSpPr>
        <p:spPr>
          <a:xfrm>
            <a:off x="2643988" y="3108960"/>
            <a:ext cx="1417320" cy="566928"/>
          </a:xfrm>
          <a:prstGeom prst="roundRect">
            <a:avLst>
              <a:gd name="adj" fmla="val 2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2643988" y="3108960"/>
            <a:ext cx="1417320" cy="5669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S0  </a:t>
            </a: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Code</a:t>
            </a:r>
          </a:p>
        </p:txBody>
      </p:sp>
      <p:cxnSp>
        <p:nvCxnSpPr>
          <p:cNvPr id="31" name="Line 31"/>
          <p:cNvCxnSpPr/>
          <p:nvPr/>
        </p:nvCxnSpPr>
        <p:spPr>
          <a:xfrm>
            <a:off x="4116171" y="3392424"/>
            <a:ext cx="301752" cy="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32" name="Shape 32"/>
          <p:cNvSpPr/>
          <p:nvPr/>
        </p:nvSpPr>
        <p:spPr>
          <a:xfrm>
            <a:off x="4472788" y="3108960"/>
            <a:ext cx="1417320" cy="566928"/>
          </a:xfrm>
          <a:prstGeom prst="roundRect">
            <a:avLst>
              <a:gd name="adj" fmla="val 20000"/>
            </a:avLst>
          </a:prstGeom>
          <a:solidFill>
            <a:srgbClr val="0E0E0E"/>
          </a:solidFill>
          <a:ln w="12700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4472788" y="3108960"/>
            <a:ext cx="1417320" cy="5669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S1  </a:t>
            </a: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Small judge</a:t>
            </a:r>
          </a:p>
        </p:txBody>
      </p:sp>
      <p:cxnSp>
        <p:nvCxnSpPr>
          <p:cNvPr id="34" name="Line 34"/>
          <p:cNvCxnSpPr/>
          <p:nvPr/>
        </p:nvCxnSpPr>
        <p:spPr>
          <a:xfrm>
            <a:off x="5944971" y="3392424"/>
            <a:ext cx="301752" cy="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35" name="Shape 35"/>
          <p:cNvSpPr/>
          <p:nvPr/>
        </p:nvSpPr>
        <p:spPr>
          <a:xfrm>
            <a:off x="6301588" y="3108960"/>
            <a:ext cx="1417320" cy="566928"/>
          </a:xfrm>
          <a:prstGeom prst="roundRect">
            <a:avLst>
              <a:gd name="adj" fmla="val 2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6301588" y="3108960"/>
            <a:ext cx="1417320" cy="5669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S2  </a:t>
            </a: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14B model</a:t>
            </a:r>
          </a:p>
        </p:txBody>
      </p:sp>
      <p:cxnSp>
        <p:nvCxnSpPr>
          <p:cNvPr id="37" name="Line 37"/>
          <p:cNvCxnSpPr/>
          <p:nvPr/>
        </p:nvCxnSpPr>
        <p:spPr>
          <a:xfrm>
            <a:off x="7773772" y="3392424"/>
            <a:ext cx="301752" cy="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38" name="Shape 38"/>
          <p:cNvSpPr/>
          <p:nvPr/>
        </p:nvSpPr>
        <p:spPr>
          <a:xfrm>
            <a:off x="8130388" y="3108960"/>
            <a:ext cx="1417320" cy="566928"/>
          </a:xfrm>
          <a:prstGeom prst="roundRect">
            <a:avLst>
              <a:gd name="adj" fmla="val 2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8130388" y="3108960"/>
            <a:ext cx="1417320" cy="56692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H  </a:t>
            </a: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You</a:t>
            </a:r>
          </a:p>
        </p:txBody>
      </p:sp>
      <p:pic>
        <p:nvPicPr>
          <p:cNvPr id="40" name="Five views of the app: sign in, database, agents, add data, audit" descr="Five views of the app: sign in, database, agents, add data, aud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5" y="3931920"/>
            <a:ext cx="5957684" cy="2148840"/>
          </a:xfrm>
          <a:prstGeom prst="roundRect">
            <a:avLst>
              <a:gd name="adj" fmla="val 2500"/>
            </a:avLst>
          </a:prstGeom>
          <a:ln w="12700">
            <a:solidFill>
              <a:srgbClr val="2C2C2C"/>
            </a:solidFill>
          </a:ln>
        </p:spPr>
      </p:pic>
      <p:sp>
        <p:nvSpPr>
          <p:cNvPr id="41" name="TextBox 41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4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The brain </a:t>
            </a:r>
            <a:r>
              <a:rPr lang="en-US" sz="34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and its society of agents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325880"/>
            <a:ext cx="11094415" cy="4617720"/>
          </a:xfrm>
          <a:prstGeom prst="roundRect">
            <a:avLst>
              <a:gd name="adj" fmla="val 2500"/>
            </a:avLst>
          </a:prstGeom>
          <a:noFill/>
          <a:ln w="15875">
            <a:solidFill>
              <a:srgbClr val="5A5A5A"/>
            </a:solidFill>
            <a:prstDash val="dash"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77240" y="14447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A0A0A0"/>
                </a:solidFill>
                <a:latin typeface="Calibri"/>
                <a:cs typeface="Calibri"/>
              </a:rPr>
              <a:t xml:space="preserve">YOUR LAPTOP  ·  LOCAL ONLY  ·  ZERO CLOUD CALLS</a:t>
            </a:r>
          </a:p>
        </p:txBody>
      </p:sp>
      <p:sp>
        <p:nvSpPr>
          <p:cNvPr id="6" name="Shape 6"/>
          <p:cNvSpPr/>
          <p:nvPr/>
        </p:nvSpPr>
        <p:spPr>
          <a:xfrm>
            <a:off x="822960" y="1828800"/>
            <a:ext cx="1965960" cy="210312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05840" y="19659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Sources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5840" y="2377440"/>
            <a:ext cx="1645920" cy="1463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Email</a:t>
            </a:r>
          </a:p>
          <a:p>
            <a:pPr algn="l">
              <a:spcAft>
                <a:spcPts val="40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Meetings</a:t>
            </a:r>
          </a:p>
          <a:p>
            <a:pPr algn="l">
              <a:spcAft>
                <a:spcPts val="40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Notes</a:t>
            </a:r>
          </a:p>
          <a:p>
            <a:pPr algn="l">
              <a:spcAft>
                <a:spcPts val="40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Add data</a:t>
            </a:r>
          </a:p>
        </p:txBody>
      </p:sp>
      <p:sp>
        <p:nvSpPr>
          <p:cNvPr id="9" name="Shape 9"/>
          <p:cNvSpPr/>
          <p:nvPr/>
        </p:nvSpPr>
        <p:spPr>
          <a:xfrm>
            <a:off x="3200400" y="173736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22225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429000" y="18470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THE BRAIN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29000" y="2103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engram</a:t>
            </a:r>
          </a:p>
        </p:txBody>
      </p:sp>
      <p:sp>
        <p:nvSpPr>
          <p:cNvPr id="12" name="Shape 12"/>
          <p:cNvSpPr/>
          <p:nvPr/>
        </p:nvSpPr>
        <p:spPr>
          <a:xfrm>
            <a:off x="3429000" y="2606040"/>
            <a:ext cx="1117854" cy="6400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429000" y="2651760"/>
            <a:ext cx="1117854" cy="5486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S0</a:t>
            </a:r>
          </a:p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Code</a:t>
            </a:r>
          </a:p>
        </p:txBody>
      </p:sp>
      <p:sp>
        <p:nvSpPr>
          <p:cNvPr id="14" name="Shape 14"/>
          <p:cNvSpPr/>
          <p:nvPr/>
        </p:nvSpPr>
        <p:spPr>
          <a:xfrm>
            <a:off x="4656582" y="2606040"/>
            <a:ext cx="1117854" cy="6400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656582" y="2651760"/>
            <a:ext cx="1117854" cy="5486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S1</a:t>
            </a:r>
          </a:p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1.7B judge</a:t>
            </a:r>
          </a:p>
        </p:txBody>
      </p:sp>
      <p:sp>
        <p:nvSpPr>
          <p:cNvPr id="16" name="Shape 16"/>
          <p:cNvSpPr/>
          <p:nvPr/>
        </p:nvSpPr>
        <p:spPr>
          <a:xfrm>
            <a:off x="5884164" y="2606040"/>
            <a:ext cx="1117854" cy="6400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5884164" y="2651760"/>
            <a:ext cx="1117854" cy="5486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S2</a:t>
            </a:r>
          </a:p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14B model</a:t>
            </a:r>
          </a:p>
        </p:txBody>
      </p:sp>
      <p:sp>
        <p:nvSpPr>
          <p:cNvPr id="18" name="Shape 18"/>
          <p:cNvSpPr/>
          <p:nvPr/>
        </p:nvSpPr>
        <p:spPr>
          <a:xfrm>
            <a:off x="7111746" y="2606040"/>
            <a:ext cx="1117854" cy="64008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7111746" y="2651760"/>
            <a:ext cx="1117854" cy="5486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H</a:t>
            </a:r>
          </a:p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You</a:t>
            </a:r>
          </a:p>
        </p:txBody>
      </p:sp>
      <p:sp>
        <p:nvSpPr>
          <p:cNvPr id="20" name="Shape 20"/>
          <p:cNvSpPr/>
          <p:nvPr/>
        </p:nvSpPr>
        <p:spPr>
          <a:xfrm>
            <a:off x="3429000" y="3383280"/>
            <a:ext cx="4800600" cy="41148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3429000" y="33832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Every judgement  →  one hash-chained ledger</a:t>
            </a:r>
          </a:p>
        </p:txBody>
      </p:sp>
      <p:sp>
        <p:nvSpPr>
          <p:cNvPr id="22" name="Shape 22"/>
          <p:cNvSpPr/>
          <p:nvPr/>
        </p:nvSpPr>
        <p:spPr>
          <a:xfrm>
            <a:off x="8869680" y="1828800"/>
            <a:ext cx="2103120" cy="210312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9052560" y="1965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You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52560" y="237744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Web app</a:t>
            </a:r>
          </a:p>
          <a:p>
            <a:pPr algn="l">
              <a:spcAft>
                <a:spcPts val="40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Watch (Herald)</a:t>
            </a:r>
          </a:p>
          <a:p>
            <a:pPr algn="l">
              <a:spcAft>
                <a:spcPts val="40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Obsidian vault</a:t>
            </a:r>
          </a:p>
          <a:p>
            <a:pPr algn="l">
              <a:spcAft>
                <a:spcPts val="40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MCP tools</a:t>
            </a:r>
          </a:p>
        </p:txBody>
      </p:sp>
      <p:cxnSp>
        <p:nvCxnSpPr>
          <p:cNvPr id="25" name="Line 25"/>
          <p:cNvCxnSpPr/>
          <p:nvPr/>
        </p:nvCxnSpPr>
        <p:spPr>
          <a:xfrm>
            <a:off x="2816352" y="2880360"/>
            <a:ext cx="347472" cy="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cxnSp>
        <p:nvCxnSpPr>
          <p:cNvPr id="26" name="Line 26"/>
          <p:cNvCxnSpPr/>
          <p:nvPr/>
        </p:nvCxnSpPr>
        <p:spPr>
          <a:xfrm>
            <a:off x="8485632" y="2880360"/>
            <a:ext cx="347472" cy="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27" name="TextBox 27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A0A0A0"/>
                </a:solidFill>
                <a:latin typeface="Calibri"/>
                <a:cs typeface="Calibri"/>
              </a:rPr>
              <a:t xml:space="preserve">7 ROLES ON ONE PIPELINE   </a:t>
            </a: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22 planned agents → 7 roles</a:t>
            </a:r>
          </a:p>
        </p:txBody>
      </p:sp>
      <p:sp>
        <p:nvSpPr>
          <p:cNvPr id="28" name="Shape 28"/>
          <p:cNvSpPr/>
          <p:nvPr/>
        </p:nvSpPr>
        <p:spPr>
          <a:xfrm>
            <a:off x="822960" y="4526280"/>
            <a:ext cx="1213866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822960" y="4526280"/>
            <a:ext cx="1213866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Librarian</a:t>
            </a:r>
          </a:p>
        </p:txBody>
      </p:sp>
      <p:sp>
        <p:nvSpPr>
          <p:cNvPr id="30" name="Shape 30"/>
          <p:cNvSpPr/>
          <p:nvPr/>
        </p:nvSpPr>
        <p:spPr>
          <a:xfrm>
            <a:off x="2155698" y="4526280"/>
            <a:ext cx="1213866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2155698" y="4526280"/>
            <a:ext cx="1213866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Researcher</a:t>
            </a:r>
          </a:p>
        </p:txBody>
      </p:sp>
      <p:sp>
        <p:nvSpPr>
          <p:cNvPr id="32" name="Shape 32"/>
          <p:cNvSpPr/>
          <p:nvPr/>
        </p:nvSpPr>
        <p:spPr>
          <a:xfrm>
            <a:off x="3488436" y="4526280"/>
            <a:ext cx="1213866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3488436" y="4526280"/>
            <a:ext cx="1213866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Memory</a:t>
            </a:r>
          </a:p>
        </p:txBody>
      </p:sp>
      <p:sp>
        <p:nvSpPr>
          <p:cNvPr id="34" name="Shape 34"/>
          <p:cNvSpPr/>
          <p:nvPr/>
        </p:nvSpPr>
        <p:spPr>
          <a:xfrm>
            <a:off x="4821174" y="4526280"/>
            <a:ext cx="1213866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4821174" y="4526280"/>
            <a:ext cx="1213866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Planner</a:t>
            </a:r>
          </a:p>
        </p:txBody>
      </p:sp>
      <p:sp>
        <p:nvSpPr>
          <p:cNvPr id="36" name="Shape 36"/>
          <p:cNvSpPr/>
          <p:nvPr/>
        </p:nvSpPr>
        <p:spPr>
          <a:xfrm>
            <a:off x="6153912" y="4526280"/>
            <a:ext cx="1213866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6153912" y="4526280"/>
            <a:ext cx="1213866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Operator</a:t>
            </a:r>
          </a:p>
        </p:txBody>
      </p:sp>
      <p:sp>
        <p:nvSpPr>
          <p:cNvPr id="38" name="Shape 38"/>
          <p:cNvSpPr/>
          <p:nvPr/>
        </p:nvSpPr>
        <p:spPr>
          <a:xfrm>
            <a:off x="7486650" y="4526280"/>
            <a:ext cx="1213866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7486650" y="4526280"/>
            <a:ext cx="1213866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Guardian</a:t>
            </a:r>
          </a:p>
        </p:txBody>
      </p:sp>
      <p:sp>
        <p:nvSpPr>
          <p:cNvPr id="40" name="Shape 40"/>
          <p:cNvSpPr/>
          <p:nvPr/>
        </p:nvSpPr>
        <p:spPr>
          <a:xfrm>
            <a:off x="8819388" y="4526280"/>
            <a:ext cx="1213866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8819388" y="4526280"/>
            <a:ext cx="1213866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Herald</a:t>
            </a:r>
          </a:p>
        </p:txBody>
      </p:sp>
      <p:sp>
        <p:nvSpPr>
          <p:cNvPr id="42" name="Shape 42"/>
          <p:cNvSpPr/>
          <p:nvPr/>
        </p:nvSpPr>
        <p:spPr>
          <a:xfrm>
            <a:off x="10152126" y="4526280"/>
            <a:ext cx="1213866" cy="4572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5A5A5A"/>
            </a:solidFill>
            <a:prstDash val="dash"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10152126" y="4526280"/>
            <a:ext cx="1213866" cy="4572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A0A0A0"/>
                </a:solidFill>
                <a:latin typeface="Calibri"/>
                <a:cs typeface="Calibri"/>
              </a:rPr>
              <a:t xml:space="preserve">Diplomat (demo)</a:t>
            </a:r>
          </a:p>
        </p:txBody>
      </p:sp>
      <p:sp>
        <p:nvSpPr>
          <p:cNvPr id="44" name="Shape 44"/>
          <p:cNvSpPr/>
          <p:nvPr/>
        </p:nvSpPr>
        <p:spPr>
          <a:xfrm>
            <a:off x="2103120" y="5193792"/>
            <a:ext cx="457200" cy="566928"/>
          </a:xfrm>
          <a:prstGeom prst="can">
            <a:avLst/>
          </a:prstGeom>
          <a:solidFill>
            <a:srgbClr val="0E0E0E"/>
          </a:solidFill>
          <a:ln w="15875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2743200" y="52120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Postgres 17 + pgvector   </a:t>
            </a: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items · chunks · beliefs · judgements · labels · people · plan_entries · herald_cards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A judge trained on you, </a:t>
            </a:r>
            <a:r>
              <a:rPr lang="en-US" sz="32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a watch that asks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132588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FINE-TUNING THE LLM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691640"/>
            <a:ext cx="956462" cy="713232"/>
          </a:xfrm>
          <a:prstGeom prst="roundRect">
            <a:avLst>
              <a:gd name="adj" fmla="val 12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94360" y="1737360"/>
            <a:ext cx="865022" cy="6217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05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Your behaviour</a:t>
            </a:r>
          </a:p>
          <a:p>
            <a:pPr algn="ctr">
              <a:spcAft>
                <a:spcPts val="0"/>
              </a:spcAft>
            </a:pPr>
            <a:r>
              <a:rPr lang="en-US" sz="1000" b="1" i="0" dirty="0">
                <a:solidFill>
                  <a:srgbClr val="A0A0A0"/>
                </a:solidFill>
                <a:latin typeface="Calibri"/>
                <a:cs typeface="Calibri"/>
              </a:rPr>
              <a:t xml:space="preserve">replies, filing</a:t>
            </a:r>
          </a:p>
        </p:txBody>
      </p:sp>
      <p:cxnSp>
        <p:nvCxnSpPr>
          <p:cNvPr id="7" name="Line 7"/>
          <p:cNvCxnSpPr/>
          <p:nvPr/>
        </p:nvCxnSpPr>
        <p:spPr>
          <a:xfrm>
            <a:off x="1523390" y="2048256"/>
            <a:ext cx="128016" cy="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8" name="Shape 8"/>
          <p:cNvSpPr/>
          <p:nvPr/>
        </p:nvSpPr>
        <p:spPr>
          <a:xfrm>
            <a:off x="1669694" y="1691640"/>
            <a:ext cx="956462" cy="713232"/>
          </a:xfrm>
          <a:prstGeom prst="roundRect">
            <a:avLst>
              <a:gd name="adj" fmla="val 12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15414" y="1737360"/>
            <a:ext cx="865022" cy="6217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05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Labels</a:t>
            </a:r>
          </a:p>
          <a:p>
            <a:pPr algn="ctr">
              <a:spcAft>
                <a:spcPts val="0"/>
              </a:spcAft>
            </a:pPr>
            <a:r>
              <a:rPr lang="en-US" sz="10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5,958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2644445" y="2048256"/>
            <a:ext cx="128016" cy="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11" name="Shape 11"/>
          <p:cNvSpPr/>
          <p:nvPr/>
        </p:nvSpPr>
        <p:spPr>
          <a:xfrm>
            <a:off x="2790749" y="1691640"/>
            <a:ext cx="956462" cy="713232"/>
          </a:xfrm>
          <a:prstGeom prst="roundRect">
            <a:avLst>
              <a:gd name="adj" fmla="val 12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836469" y="1737360"/>
            <a:ext cx="865022" cy="6217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05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LoRA on the Mac</a:t>
            </a:r>
          </a:p>
          <a:p>
            <a:pPr algn="ctr">
              <a:spcAft>
                <a:spcPts val="0"/>
              </a:spcAft>
            </a:pPr>
            <a:r>
              <a:rPr lang="en-US" sz="10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54 min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3765499" y="2048256"/>
            <a:ext cx="128016" cy="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14" name="Shape 14"/>
          <p:cNvSpPr/>
          <p:nvPr/>
        </p:nvSpPr>
        <p:spPr>
          <a:xfrm>
            <a:off x="3911803" y="1691640"/>
            <a:ext cx="956462" cy="713232"/>
          </a:xfrm>
          <a:prstGeom prst="roundRect">
            <a:avLst>
              <a:gd name="adj" fmla="val 12000"/>
            </a:avLst>
          </a:prstGeom>
          <a:solidFill>
            <a:srgbClr val="0E0E0E"/>
          </a:solidFill>
          <a:ln w="12700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957523" y="1737360"/>
            <a:ext cx="865022" cy="6217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05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The judge</a:t>
            </a:r>
          </a:p>
          <a:p>
            <a:pPr algn="ctr">
              <a:spcAft>
                <a:spcPts val="0"/>
              </a:spcAft>
            </a:pPr>
            <a:r>
              <a:rPr lang="en-US" sz="10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934 MB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4886554" y="2048256"/>
            <a:ext cx="128016" cy="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17" name="Shape 17"/>
          <p:cNvSpPr/>
          <p:nvPr/>
        </p:nvSpPr>
        <p:spPr>
          <a:xfrm>
            <a:off x="5032858" y="1691640"/>
            <a:ext cx="956462" cy="713232"/>
          </a:xfrm>
          <a:prstGeom prst="roundRect">
            <a:avLst>
              <a:gd name="adj" fmla="val 12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5078578" y="1737360"/>
            <a:ext cx="865022" cy="621792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05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The ledger</a:t>
            </a:r>
          </a:p>
          <a:p>
            <a:pPr algn="ctr">
              <a:spcAft>
                <a:spcPts val="0"/>
              </a:spcAft>
            </a:pPr>
            <a:r>
              <a:rPr lang="en-US" sz="10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every decision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5511089" y="2423160"/>
            <a:ext cx="0" cy="210312"/>
          </a:xfrm>
          <a:prstGeom prst="straightConnector1">
            <a:avLst/>
          </a:prstGeom>
          <a:ln w="15875">
            <a:solidFill>
              <a:srgbClr val="A0A0A0"/>
            </a:solidFill>
          </a:ln>
        </p:spPr>
      </p:cxnSp>
      <p:cxnSp>
        <p:nvCxnSpPr>
          <p:cNvPr id="20" name="Line 20"/>
          <p:cNvCxnSpPr/>
          <p:nvPr/>
        </p:nvCxnSpPr>
        <p:spPr>
          <a:xfrm flipH="1">
            <a:off x="2147926" y="2633472"/>
            <a:ext cx="3363163" cy="0"/>
          </a:xfrm>
          <a:prstGeom prst="straightConnector1">
            <a:avLst/>
          </a:prstGeom>
          <a:ln w="15875">
            <a:solidFill>
              <a:srgbClr val="A0A0A0"/>
            </a:solidFill>
          </a:ln>
        </p:spPr>
      </p:cxnSp>
      <p:cxnSp>
        <p:nvCxnSpPr>
          <p:cNvPr id="21" name="Line 21"/>
          <p:cNvCxnSpPr/>
          <p:nvPr/>
        </p:nvCxnSpPr>
        <p:spPr>
          <a:xfrm flipV="1">
            <a:off x="2147926" y="2441448"/>
            <a:ext cx="0" cy="192024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22" name="TextBox 22"/>
          <p:cNvSpPr txBox="1"/>
          <p:nvPr/>
        </p:nvSpPr>
        <p:spPr>
          <a:xfrm>
            <a:off x="1828800" y="26791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000" b="0" i="1" dirty="0">
                <a:solidFill>
                  <a:srgbClr val="A0A0A0"/>
                </a:solidFill>
                <a:latin typeface="Calibri"/>
                <a:cs typeface="Calibri"/>
              </a:rPr>
              <a:t xml:space="preserve">your taps become new labels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8640" y="3017520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Accuracy on held-out conversations (%)</a:t>
            </a:r>
          </a:p>
        </p:txBody>
      </p:sp>
      <p:graphicFrame>
        <p:nvGraphicFramePr>
          <p:cNvPr id="24" name="Chart 24"/>
          <p:cNvGraphicFramePr/>
          <p:nvPr/>
        </p:nvGraphicFramePr>
        <p:xfrm>
          <a:off x="868680" y="3200400"/>
          <a:ext cx="5257800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5"/>
          <p:cNvSpPr txBox="1"/>
          <p:nvPr/>
        </p:nvSpPr>
        <p:spPr>
          <a:xfrm>
            <a:off x="6355080" y="132588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HERALD  ·  KOTLIN WEAR OS APP</a:t>
            </a:r>
          </a:p>
        </p:txBody>
      </p:sp>
      <p:sp>
        <p:nvSpPr>
          <p:cNvPr id="26" name="Shape 26"/>
          <p:cNvSpPr/>
          <p:nvPr/>
        </p:nvSpPr>
        <p:spPr>
          <a:xfrm>
            <a:off x="6400800" y="1783080"/>
            <a:ext cx="2514600" cy="2514600"/>
          </a:xfrm>
          <a:prstGeom prst="ellipse">
            <a:avLst/>
          </a:prstGeom>
          <a:solidFill>
            <a:srgbClr val="0E0E0E"/>
          </a:solidFill>
          <a:ln w="381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6766560" y="22860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2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Approve?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20840" y="2560320"/>
            <a:ext cx="187452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email.reply_email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12280" y="288036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0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reply “Got it, thank you!” to sofia</a:t>
            </a:r>
          </a:p>
        </p:txBody>
      </p:sp>
      <p:sp>
        <p:nvSpPr>
          <p:cNvPr id="30" name="Shape 30"/>
          <p:cNvSpPr/>
          <p:nvPr/>
        </p:nvSpPr>
        <p:spPr>
          <a:xfrm>
            <a:off x="6812280" y="338328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E6E6E6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6812280" y="3383280"/>
            <a:ext cx="804672" cy="3657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Deny</a:t>
            </a:r>
          </a:p>
        </p:txBody>
      </p:sp>
      <p:sp>
        <p:nvSpPr>
          <p:cNvPr id="32" name="Shape 32"/>
          <p:cNvSpPr/>
          <p:nvPr/>
        </p:nvSpPr>
        <p:spPr>
          <a:xfrm>
            <a:off x="7699248" y="338328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7699248" y="3383280"/>
            <a:ext cx="804672" cy="3657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Approve</a:t>
            </a:r>
          </a:p>
        </p:txBody>
      </p:sp>
      <p:sp>
        <p:nvSpPr>
          <p:cNvPr id="34" name="Shape 34"/>
          <p:cNvSpPr/>
          <p:nvPr/>
        </p:nvSpPr>
        <p:spPr>
          <a:xfrm>
            <a:off x="9144000" y="1783080"/>
            <a:ext cx="2496312" cy="502920"/>
          </a:xfrm>
          <a:prstGeom prst="roundRect">
            <a:avLst>
              <a:gd name="adj" fmla="val 15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9281160" y="17830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1  </a:t>
            </a:r>
            <a:r>
              <a:rPr lang="en-US" sz="11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The gate pauses an action</a:t>
            </a:r>
          </a:p>
        </p:txBody>
      </p:sp>
      <p:cxnSp>
        <p:nvCxnSpPr>
          <p:cNvPr id="36" name="Line 36"/>
          <p:cNvCxnSpPr/>
          <p:nvPr/>
        </p:nvCxnSpPr>
        <p:spPr>
          <a:xfrm>
            <a:off x="10387584" y="2295144"/>
            <a:ext cx="0" cy="13716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37" name="Shape 37"/>
          <p:cNvSpPr/>
          <p:nvPr/>
        </p:nvSpPr>
        <p:spPr>
          <a:xfrm>
            <a:off x="9144000" y="2441448"/>
            <a:ext cx="2496312" cy="502920"/>
          </a:xfrm>
          <a:prstGeom prst="roundRect">
            <a:avLst>
              <a:gd name="adj" fmla="val 15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9281160" y="2441448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2  </a:t>
            </a:r>
            <a:r>
              <a:rPr lang="en-US" sz="11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Long-poll over Wi-Fi, no cloud push</a:t>
            </a:r>
          </a:p>
        </p:txBody>
      </p:sp>
      <p:cxnSp>
        <p:nvCxnSpPr>
          <p:cNvPr id="39" name="Line 39"/>
          <p:cNvCxnSpPr/>
          <p:nvPr/>
        </p:nvCxnSpPr>
        <p:spPr>
          <a:xfrm>
            <a:off x="10387584" y="2953512"/>
            <a:ext cx="0" cy="13716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40" name="Shape 40"/>
          <p:cNvSpPr/>
          <p:nvPr/>
        </p:nvSpPr>
        <p:spPr>
          <a:xfrm>
            <a:off x="9144000" y="3099816"/>
            <a:ext cx="2496312" cy="502920"/>
          </a:xfrm>
          <a:prstGeom prst="roundRect">
            <a:avLst>
              <a:gd name="adj" fmla="val 15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9281160" y="3099816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3  </a:t>
            </a:r>
            <a:r>
              <a:rPr lang="en-US" sz="11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The watch buzzes</a:t>
            </a:r>
          </a:p>
        </p:txBody>
      </p:sp>
      <p:cxnSp>
        <p:nvCxnSpPr>
          <p:cNvPr id="42" name="Line 42"/>
          <p:cNvCxnSpPr/>
          <p:nvPr/>
        </p:nvCxnSpPr>
        <p:spPr>
          <a:xfrm>
            <a:off x="10387584" y="3611880"/>
            <a:ext cx="0" cy="137160"/>
          </a:xfrm>
          <a:prstGeom prst="straightConnector1">
            <a:avLst/>
          </a:prstGeom>
          <a:ln w="15875">
            <a:solidFill>
              <a:srgbClr val="A0A0A0"/>
            </a:solidFill>
            <a:tailEnd type="triangle" w="med" len="med"/>
          </a:ln>
        </p:spPr>
      </p:cxnSp>
      <p:sp>
        <p:nvSpPr>
          <p:cNvPr id="43" name="Shape 43"/>
          <p:cNvSpPr/>
          <p:nvPr/>
        </p:nvSpPr>
        <p:spPr>
          <a:xfrm>
            <a:off x="9144000" y="3758184"/>
            <a:ext cx="2496312" cy="502920"/>
          </a:xfrm>
          <a:prstGeom prst="roundRect">
            <a:avLst>
              <a:gd name="adj" fmla="val 15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9281160" y="3758184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4  </a:t>
            </a:r>
            <a:r>
              <a:rPr lang="en-US" sz="11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You tap → the ledger</a:t>
            </a:r>
          </a:p>
        </p:txBody>
      </p:sp>
      <p:sp>
        <p:nvSpPr>
          <p:cNvPr id="45" name="Shape 45"/>
          <p:cNvSpPr/>
          <p:nvPr/>
        </p:nvSpPr>
        <p:spPr>
          <a:xfrm>
            <a:off x="6400800" y="457200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6400800" y="4572000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mDNS + HMAC</a:t>
            </a:r>
          </a:p>
        </p:txBody>
      </p:sp>
      <p:sp>
        <p:nvSpPr>
          <p:cNvPr id="47" name="Shape 47"/>
          <p:cNvSpPr/>
          <p:nvPr/>
        </p:nvSpPr>
        <p:spPr>
          <a:xfrm>
            <a:off x="7854696" y="45720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7854696" y="457200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19 s pause → tap</a:t>
            </a:r>
          </a:p>
        </p:txBody>
      </p:sp>
      <p:sp>
        <p:nvSpPr>
          <p:cNvPr id="49" name="Shape 49"/>
          <p:cNvSpPr/>
          <p:nvPr/>
        </p:nvSpPr>
        <p:spPr>
          <a:xfrm>
            <a:off x="9445752" y="457200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9445752" y="4572000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E6E6E6"/>
                </a:solidFill>
                <a:latin typeface="Calibri"/>
                <a:cs typeface="Calibri"/>
              </a:rPr>
              <a:t xml:space="preserve">Whisper ~0.5 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400800" y="512064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Galaxy Watch 5 · Wear OS 5 · Kotlin + Compose · direct Wi-Fi to the Mac, no phone app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Impact </a:t>
            </a:r>
            <a:r>
              <a:rPr lang="en-US" sz="36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and benefits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63040"/>
            <a:ext cx="2316480" cy="201168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77240" y="1664208"/>
            <a:ext cx="1859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PRIVATE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240" y="1965960"/>
            <a:ext cx="185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240" y="2761488"/>
            <a:ext cx="18592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cloud calls: every model and store on your laptop</a:t>
            </a:r>
          </a:p>
        </p:txBody>
      </p:sp>
      <p:sp>
        <p:nvSpPr>
          <p:cNvPr id="8" name="Shape 8"/>
          <p:cNvSpPr/>
          <p:nvPr/>
        </p:nvSpPr>
        <p:spPr>
          <a:xfrm>
            <a:off x="3093720" y="1463040"/>
            <a:ext cx="2316480" cy="201168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322320" y="1664208"/>
            <a:ext cx="1859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PERSONALISED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22320" y="1965960"/>
            <a:ext cx="185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96.6%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22320" y="2761488"/>
            <a:ext cx="18592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judge trained on you (14B: 95.5%)</a:t>
            </a:r>
          </a:p>
        </p:txBody>
      </p:sp>
      <p:sp>
        <p:nvSpPr>
          <p:cNvPr id="12" name="Shape 12"/>
          <p:cNvSpPr/>
          <p:nvPr/>
        </p:nvSpPr>
        <p:spPr>
          <a:xfrm>
            <a:off x="5638800" y="1463040"/>
            <a:ext cx="2316480" cy="201168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867400" y="1664208"/>
            <a:ext cx="1859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SIMPLIFIED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67400" y="1965960"/>
            <a:ext cx="185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7 roles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67400" y="2761488"/>
            <a:ext cx="18592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one pipeline, one tap on the watch</a:t>
            </a:r>
          </a:p>
        </p:txBody>
      </p:sp>
      <p:sp>
        <p:nvSpPr>
          <p:cNvPr id="16" name="Shape 16"/>
          <p:cNvSpPr/>
          <p:nvPr/>
        </p:nvSpPr>
        <p:spPr>
          <a:xfrm>
            <a:off x="548640" y="3703320"/>
            <a:ext cx="2316480" cy="201168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77240" y="3904488"/>
            <a:ext cx="1859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TIME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7240" y="4206240"/>
            <a:ext cx="185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807 → 255 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7240" y="5001768"/>
            <a:ext cx="18592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memory gate on 60 emails</a:t>
            </a:r>
          </a:p>
        </p:txBody>
      </p:sp>
      <p:sp>
        <p:nvSpPr>
          <p:cNvPr id="20" name="Shape 20"/>
          <p:cNvSpPr/>
          <p:nvPr/>
        </p:nvSpPr>
        <p:spPr>
          <a:xfrm>
            <a:off x="3093720" y="3703320"/>
            <a:ext cx="2316480" cy="201168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3322320" y="3904488"/>
            <a:ext cx="1859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COST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22320" y="4206240"/>
            <a:ext cx="185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934 MB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22320" y="5001768"/>
            <a:ext cx="18592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judge, 3–5× faster, no API bills</a:t>
            </a:r>
          </a:p>
        </p:txBody>
      </p:sp>
      <p:sp>
        <p:nvSpPr>
          <p:cNvPr id="24" name="Shape 24"/>
          <p:cNvSpPr/>
          <p:nvPr/>
        </p:nvSpPr>
        <p:spPr>
          <a:xfrm>
            <a:off x="5638800" y="3703320"/>
            <a:ext cx="2316480" cy="201168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5867400" y="3904488"/>
            <a:ext cx="1859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ACCURACY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67400" y="4206240"/>
            <a:ext cx="185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21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40.0% → 6.7%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67400" y="5001768"/>
            <a:ext cx="18592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harmful actions, through the gate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49640" y="14630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MARKET</a:t>
            </a:r>
          </a:p>
        </p:txBody>
      </p:sp>
      <p:sp>
        <p:nvSpPr>
          <p:cNvPr id="29" name="Shape 29"/>
          <p:cNvSpPr/>
          <p:nvPr/>
        </p:nvSpPr>
        <p:spPr>
          <a:xfrm>
            <a:off x="8229600" y="2057400"/>
            <a:ext cx="3383280" cy="3383280"/>
          </a:xfrm>
          <a:prstGeom prst="ellipse">
            <a:avLst/>
          </a:prstGeom>
          <a:solidFill>
            <a:srgbClr val="0E0E0E"/>
          </a:solidFill>
          <a:ln w="1905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8801100" y="3200400"/>
            <a:ext cx="2240280" cy="2240280"/>
          </a:xfrm>
          <a:prstGeom prst="ellipse">
            <a:avLst/>
          </a:prstGeom>
          <a:solidFill>
            <a:srgbClr val="0E0E0E"/>
          </a:solidFill>
          <a:ln w="19050">
            <a:solidFill>
              <a:srgbClr val="A0A0A0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Shape 31"/>
          <p:cNvSpPr/>
          <p:nvPr/>
        </p:nvSpPr>
        <p:spPr>
          <a:xfrm>
            <a:off x="9349740" y="4297680"/>
            <a:ext cx="1143000" cy="1143000"/>
          </a:xfrm>
          <a:prstGeom prst="ellipse">
            <a:avLst/>
          </a:prstGeom>
          <a:solidFill>
            <a:srgbClr val="0E0E0E"/>
          </a:solidFill>
          <a:ln w="19050">
            <a:solidFill>
              <a:srgbClr val="F5B30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8732520" y="21945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TAM  $3.4B</a:t>
            </a:r>
          </a:p>
          <a:p>
            <a:pPr algn="ctr">
              <a:spcAft>
                <a:spcPts val="0"/>
              </a:spcAft>
            </a:pPr>
            <a:r>
              <a:rPr lang="en-US" sz="10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personal AI assistants, 2025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06840" y="33375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SAM  ~$340M</a:t>
            </a:r>
          </a:p>
          <a:p>
            <a:pPr algn="ctr">
              <a:spcAft>
                <a:spcPts val="0"/>
              </a:spcAft>
            </a:pPr>
            <a:r>
              <a:rPr lang="en-US" sz="95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assumed 10%: privacy-first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18320" y="45720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SOM</a:t>
            </a:r>
          </a:p>
          <a:p>
            <a:pPr algn="ctr">
              <a:spcAft>
                <a:spcPts val="0"/>
              </a:spcAft>
            </a:pPr>
            <a:r>
              <a:rPr lang="en-US" sz="11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~$3.4M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83880" y="553212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9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TAM: Research and Markets (2026), $19.63B by 2030. SAM, SOM (1% of SAM in 3 years): our assumptions.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Feasible today, </a:t>
            </a:r>
            <a:r>
              <a:rPr lang="en-US" sz="36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on one laptop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3200400" cy="406908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931920" y="1417320"/>
            <a:ext cx="4663440" cy="406908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8778240" y="1417320"/>
            <a:ext cx="2862072" cy="406908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22960" y="16459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COMPUTE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960" y="20574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24 GB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2960" y="26060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one MacBook Pro (M5 Pro)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2960" y="31546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934 MB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60" y="37033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the 4-bit judge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2960" y="42519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54 min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2960" y="48006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LoRA training, 18 GB peak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06240" y="164592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BRAIN LATENCY  (log scale)</a:t>
            </a:r>
          </a:p>
        </p:txBody>
      </p:sp>
      <p:graphicFrame>
        <p:nvGraphicFramePr>
          <p:cNvPr id="15" name="Chart 15"/>
          <p:cNvGraphicFramePr/>
          <p:nvPr/>
        </p:nvGraphicFramePr>
        <p:xfrm>
          <a:off x="4023360" y="1920240"/>
          <a:ext cx="448056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Box 16"/>
          <p:cNvSpPr txBox="1"/>
          <p:nvPr/>
        </p:nvSpPr>
        <p:spPr>
          <a:xfrm>
            <a:off x="9052560" y="16459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PRIVACY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52560" y="20116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•  </a:t>
            </a:r>
            <a:r>
              <a:rPr lang="en-US" sz="125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Zero cloud calls</a:t>
            </a:r>
          </a:p>
          <a:p>
            <a:pPr algn="l">
              <a:spcAft>
                <a:spcPts val="6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•  </a:t>
            </a:r>
            <a:r>
              <a:rPr lang="en-US" sz="125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Hash-chained ledger of every decision</a:t>
            </a:r>
          </a:p>
          <a:p>
            <a:pPr algn="l">
              <a:spcAft>
                <a:spcPts val="60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•  </a:t>
            </a:r>
            <a:r>
              <a:rPr lang="en-US" sz="125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DPDP-ready: 1-year logs, 72-hour breach reports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52560" y="3520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13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Penalties up to ₹250 crore</a:t>
            </a:r>
          </a:p>
        </p:txBody>
      </p:sp>
      <p:pic>
        <p:nvPicPr>
          <p:cNvPr id="19" name="Sign-in page: served on 127.0.0.1, nothing from the network" descr="Sign-in page: served on 127.0.0.1, nothing from the network"/>
          <p:cNvPicPr>
            <a:picLocks noChangeAspect="1"/>
          </p:cNvPicPr>
          <p:nvPr/>
        </p:nvPicPr>
        <p:blipFill>
          <a:blip r:embed="rId4"/>
          <a:srcRect b="58750" r="40000"/>
          <a:stretch>
            <a:fillRect/>
          </a:stretch>
        </p:blipFill>
        <p:spPr>
          <a:xfrm>
            <a:off x="9006840" y="3977640"/>
            <a:ext cx="2404872" cy="1033343"/>
          </a:xfrm>
          <a:prstGeom prst="roundRect">
            <a:avLst>
              <a:gd name="adj" fmla="val 2500"/>
            </a:avLst>
          </a:prstGeom>
          <a:ln w="12700">
            <a:solidFill>
              <a:srgbClr val="2C2C2C"/>
            </a:solidFill>
          </a:ln>
        </p:spPr>
      </p:pic>
      <p:sp>
        <p:nvSpPr>
          <p:cNvPr id="20" name="Shape 20"/>
          <p:cNvSpPr/>
          <p:nvPr/>
        </p:nvSpPr>
        <p:spPr>
          <a:xfrm>
            <a:off x="548640" y="5669280"/>
            <a:ext cx="11094415" cy="5029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548640" y="566928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400" b="0" i="1" dirty="0">
                <a:solidFill>
                  <a:srgbClr val="E6E6E6"/>
                </a:solidFill>
                <a:latin typeface="Calibri"/>
                <a:cs typeface="Calibri"/>
              </a:rPr>
              <a:t xml:space="preserve">Viable: it runs today on hardware the owner already has.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36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References </a:t>
            </a:r>
            <a:r>
              <a:rPr lang="en-US" sz="36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we built on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463040"/>
            <a:ext cx="5364328" cy="420624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914400" y="1783080"/>
            <a:ext cx="4632808" cy="3749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140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 1   </a:t>
            </a:r>
            <a:r>
              <a:rPr lang="en-US" sz="14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Kim et al., multi-agent scaling across 180 configurations, arXiv:2512.08296</a:t>
            </a:r>
          </a:p>
          <a:p>
            <a:pPr algn="l">
              <a:spcAft>
                <a:spcPts val="140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 2   </a:t>
            </a:r>
            <a:r>
              <a:rPr lang="en-US" sz="14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Cemri et al., MAST: why multi-agent systems fail, arXiv:2503.13657</a:t>
            </a:r>
          </a:p>
          <a:p>
            <a:pPr algn="l">
              <a:spcAft>
                <a:spcPts val="140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 3   </a:t>
            </a:r>
            <a:r>
              <a:rPr lang="en-US" sz="14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Zheng et al., persona prompts don't improve accuracy, arXiv:2311.10054</a:t>
            </a:r>
          </a:p>
          <a:p>
            <a:pPr algn="l">
              <a:spcAft>
                <a:spcPts val="140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 4   </a:t>
            </a:r>
            <a:r>
              <a:rPr lang="en-US" sz="14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NATURAL PLAN, arXiv:2406.04520</a:t>
            </a:r>
          </a:p>
          <a:p>
            <a:pPr algn="l">
              <a:spcAft>
                <a:spcPts val="140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 5   </a:t>
            </a:r>
            <a:r>
              <a:rPr lang="en-US" sz="14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Solver-checked LLM planning (10% → 93.9%), arXiv:2404.11891</a:t>
            </a:r>
          </a:p>
          <a:p>
            <a:pPr algn="l">
              <a:spcAft>
                <a:spcPts val="140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 6   </a:t>
            </a:r>
            <a:r>
              <a:rPr lang="en-US" sz="14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NVIDIA, Small Language Models are the Future of Agentic AI, arXiv:2506.02153</a:t>
            </a:r>
          </a:p>
        </p:txBody>
      </p:sp>
      <p:sp>
        <p:nvSpPr>
          <p:cNvPr id="6" name="Shape 6"/>
          <p:cNvSpPr/>
          <p:nvPr/>
        </p:nvSpPr>
        <p:spPr>
          <a:xfrm>
            <a:off x="6278728" y="1463040"/>
            <a:ext cx="5364328" cy="4206240"/>
          </a:xfrm>
          <a:prstGeom prst="roundRect">
            <a:avLst>
              <a:gd name="adj" fmla="val 6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644488" y="1783080"/>
            <a:ext cx="4632808" cy="3749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140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 7   </a:t>
            </a:r>
            <a:r>
              <a:rPr lang="en-US" sz="14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PAPILLON (NAACL 2025): local + cloud delegation leaks 7.5%</a:t>
            </a:r>
          </a:p>
          <a:p>
            <a:pPr algn="l">
              <a:spcAft>
                <a:spcPts val="140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 8   </a:t>
            </a:r>
            <a:r>
              <a:rPr lang="en-US" sz="14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Mem0 memory audit (mem0 #4573); Graphiti invalidation report (graphiti #1728)</a:t>
            </a:r>
          </a:p>
          <a:p>
            <a:pPr algn="l">
              <a:spcAft>
                <a:spcPts val="140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 9   </a:t>
            </a:r>
            <a:r>
              <a:rPr lang="en-US" sz="14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India, Digital Personal Data Protection Rules, 2025</a:t>
            </a:r>
          </a:p>
          <a:p>
            <a:pPr algn="l">
              <a:spcAft>
                <a:spcPts val="140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10   </a:t>
            </a:r>
            <a:r>
              <a:rPr lang="en-US" sz="14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Datasets: EnronQA (CC BY 4.0), WorkBench (MIT), QMSum / AMI</a:t>
            </a:r>
          </a:p>
          <a:p>
            <a:pPr algn="l">
              <a:spcAft>
                <a:spcPts val="140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11   </a:t>
            </a:r>
            <a:r>
              <a:rPr lang="en-US" sz="14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Models and tools: Qwen3-1.7B, Qwen3-14B, Whisper large-v3-turbo, MLX, Ollama, PostgreSQL + pgvector, OR-Tools CP-SAT</a:t>
            </a:r>
          </a:p>
          <a:p>
            <a:pPr algn="l">
              <a:spcAft>
                <a:spcPts val="1400"/>
              </a:spcAft>
            </a:pPr>
            <a:r>
              <a:rPr lang="en-US" sz="1400" b="1" i="0" dirty="0">
                <a:solidFill>
                  <a:srgbClr val="F5B301"/>
                </a:solidFill>
                <a:latin typeface="Calibri"/>
                <a:cs typeface="Calibri"/>
              </a:rPr>
              <a:t xml:space="preserve">12   </a:t>
            </a:r>
            <a:r>
              <a:rPr lang="en-US" sz="1400" b="0" i="0" dirty="0">
                <a:solidFill>
                  <a:srgbClr val="E6E6E6"/>
                </a:solidFill>
                <a:latin typeface="Calibri"/>
                <a:cs typeface="Calibri"/>
              </a:rPr>
              <a:t xml:space="preserve">Research and Markets, Personal AI Assistant Market Report 2026 (TAM)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lag" descr="fla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1417320"/>
            <a:ext cx="548640" cy="54864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48640" y="214884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60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Thank </a:t>
            </a:r>
            <a:r>
              <a:rPr lang="en-US" sz="60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1600" y="3291840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 xml:space="preserve">Your brain, on your machine.</a:t>
            </a:r>
          </a:p>
        </p:txBody>
      </p:sp>
      <p:sp>
        <p:nvSpPr>
          <p:cNvPr id="6" name="Shape 6"/>
          <p:cNvSpPr/>
          <p:nvPr/>
        </p:nvSpPr>
        <p:spPr>
          <a:xfrm>
            <a:off x="2301088" y="4069080"/>
            <a:ext cx="3657600" cy="960120"/>
          </a:xfrm>
          <a:prstGeom prst="roundRect">
            <a:avLst>
              <a:gd name="adj" fmla="val 12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301088" y="418795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github.com/tharanirmal/omnitrix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01088" y="46360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Repo</a:t>
            </a:r>
          </a:p>
        </p:txBody>
      </p:sp>
      <p:sp>
        <p:nvSpPr>
          <p:cNvPr id="9" name="Shape 9"/>
          <p:cNvSpPr/>
          <p:nvPr/>
        </p:nvSpPr>
        <p:spPr>
          <a:xfrm>
            <a:off x="6233008" y="4069080"/>
            <a:ext cx="3657600" cy="960120"/>
          </a:xfrm>
          <a:prstGeom prst="roundRect">
            <a:avLst>
              <a:gd name="adj" fmla="val 12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233008" y="418795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TODO: team contact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33008" y="46360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US" sz="1100" b="0" i="0" dirty="0">
                <a:solidFill>
                  <a:srgbClr val="A0A0A0"/>
                </a:solidFill>
                <a:latin typeface="Calibri"/>
                <a:cs typeface="Calibri"/>
              </a:rPr>
              <a:t xml:space="preserve">Contact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Omnitrix  ·  MSRIT Hackathon  ·  Track 1 Sovereign AI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lang="en-US" sz="900" b="0" i="0" dirty="0">
                <a:solidFill>
                  <a:srgbClr val="5A5A5A"/>
                </a:solidFill>
                <a:latin typeface="Calibri"/>
                <a:cs typeface="Calibri"/>
              </a:rPr>
              <a:t xml:space="preserve"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