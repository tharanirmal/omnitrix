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38BDF8"/>
                </a:solidFill>
                <a:latin typeface="Calibri"/>
              </a:rPr>
              <a:t>SOVEREIGN AI  ·  PERSONAL SECRETARY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48840"/>
            <a:ext cx="11094415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200" b="1" i="0">
                <a:solidFill>
                  <a:srgbClr val="F0F6FC"/>
                </a:solidFill>
                <a:latin typeface="Calibri"/>
              </a:rPr>
              <a:t>Omnitrix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337560"/>
            <a:ext cx="94484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38BDF8"/>
                </a:solidFill>
                <a:latin typeface="Calibri"/>
              </a:rPr>
              <a:t>A local AI secretary that remembers, plans, and acts — only with your OK.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8047" y="4251960"/>
            <a:ext cx="3291840" cy="10515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6647" y="4416552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Calibri"/>
              </a:rPr>
              <a:t>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647" y="466344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0F6FC"/>
                </a:solidFill>
                <a:latin typeface="Calibri"/>
              </a:rPr>
              <a:t>engram — sovereign local brain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9927" y="4251960"/>
            <a:ext cx="3291840" cy="10515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78527" y="4416552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Calibri"/>
              </a:rPr>
              <a:t>EVENT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8527" y="466344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0F6FC"/>
                </a:solidFill>
                <a:latin typeface="Calibri"/>
              </a:rPr>
              <a:t>MSRIT Hackathon · Track 1: Sovereign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1807" y="4251960"/>
            <a:ext cx="3291840" cy="10515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0407" y="4416552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Calibri"/>
              </a:rPr>
              <a:t>FOOTPRINT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0407" y="466344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0F6FC"/>
                </a:solidFill>
                <a:latin typeface="Calibri"/>
              </a:rPr>
              <a:t>100% local · zero cloud calls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8BDF8"/>
                </a:solidFill>
                <a:latin typeface="Calibri"/>
              </a:rPr>
              <a:t>02  ·  WHY OMNITRIX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0F6FC"/>
                </a:solidFill>
                <a:latin typeface="Calibri"/>
              </a:rPr>
              <a:t>Storing Data is Easy. Making Judgements is Hard.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8B949E"/>
                </a:solidFill>
                <a:latin typeface="Calibri"/>
              </a:rPr>
              <a:t>Why today's memory tools fail at long-term personal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B949E"/>
                </a:solidFill>
                <a:latin typeface="Calibri"/>
              </a:rPr>
              <a:t>Omnitrix  ·  MSRIT Hackathon  ·  Track 1 Sovereign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B949E"/>
                </a:solidFill>
                <a:latin typeface="Calibri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396331" cy="32461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46648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87171"/>
                </a:solidFill>
                <a:latin typeface="Calibri"/>
              </a:rPr>
              <a:t>TODAY'S MEMORY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76272"/>
            <a:ext cx="46648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0F6FC"/>
                </a:solidFill>
                <a:latin typeface="Calibri"/>
              </a:rPr>
              <a:t>Store first, judge never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80360"/>
            <a:ext cx="4664811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100" b="1" i="0">
                <a:solidFill>
                  <a:srgbClr val="F87171"/>
                </a:solidFill>
                <a:latin typeface="Calibri"/>
              </a:rPr>
              <a:t>●   </a:t>
            </a:r>
            <a:r>
              <a:rPr sz="1600" b="0" i="0">
                <a:solidFill>
                  <a:srgbClr val="F0F6FC"/>
                </a:solidFill>
                <a:latin typeface="Calibri"/>
              </a:rPr>
              <a:t>Mem0: 97.8% of 10,134 audited memories were junk</a:t>
            </a:r>
          </a:p>
          <a:p>
            <a:pPr algn="l">
              <a:spcAft>
                <a:spcPts val="1200"/>
              </a:spcAft>
            </a:pPr>
            <a:r>
              <a:rPr sz="1100" b="1" i="0">
                <a:solidFill>
                  <a:srgbClr val="F87171"/>
                </a:solidFill>
                <a:latin typeface="Calibri"/>
              </a:rPr>
              <a:t>●   </a:t>
            </a:r>
            <a:r>
              <a:rPr sz="1600" b="0" i="0">
                <a:solidFill>
                  <a:srgbClr val="F0F6FC"/>
                </a:solidFill>
                <a:latin typeface="Calibri"/>
              </a:rPr>
              <a:t>Graphiti: a small-model judge invalidated 41% of ~3,950 facts, silently</a:t>
            </a:r>
          </a:p>
          <a:p>
            <a:pPr algn="l">
              <a:spcAft>
                <a:spcPts val="1200"/>
              </a:spcAft>
            </a:pPr>
            <a:r>
              <a:rPr sz="1100" b="1" i="0">
                <a:solidFill>
                  <a:srgbClr val="F87171"/>
                </a:solidFill>
                <a:latin typeface="Calibri"/>
              </a:rPr>
              <a:t>●   </a:t>
            </a:r>
            <a:r>
              <a:rPr sz="1600" b="0" i="0">
                <a:solidFill>
                  <a:srgbClr val="F0F6FC"/>
                </a:solidFill>
                <a:latin typeface="Calibri"/>
              </a:rPr>
              <a:t>Local + cloud splits still leak private data on 7.5% of queries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6723" y="1600200"/>
            <a:ext cx="5396331" cy="32461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2483" y="1874519"/>
            <a:ext cx="46648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4D399"/>
                </a:solidFill>
                <a:latin typeface="Calibri"/>
              </a:rPr>
              <a:t>OMNITRIX SOVEREIGN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2483" y="2176272"/>
            <a:ext cx="46648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0F6FC"/>
                </a:solidFill>
                <a:latin typeface="Calibri"/>
              </a:rPr>
              <a:t>Judge first, locally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2483" y="2880360"/>
            <a:ext cx="4664811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100" b="1" i="0">
                <a:solidFill>
                  <a:srgbClr val="34D399"/>
                </a:solidFill>
                <a:latin typeface="Calibri"/>
              </a:rPr>
              <a:t>●   </a:t>
            </a:r>
            <a:r>
              <a:rPr sz="1600" b="0" i="0">
                <a:solidFill>
                  <a:srgbClr val="F0F6FC"/>
                </a:solidFill>
                <a:latin typeface="Calibri"/>
              </a:rPr>
              <a:t>Fine-tuned local System 1 (1.7B) makes the fast micro-judgements</a:t>
            </a:r>
          </a:p>
          <a:p>
            <a:pPr algn="l">
              <a:spcAft>
                <a:spcPts val="1200"/>
              </a:spcAft>
            </a:pPr>
            <a:r>
              <a:rPr sz="1100" b="1" i="0">
                <a:solidFill>
                  <a:srgbClr val="34D399"/>
                </a:solidFill>
                <a:latin typeface="Calibri"/>
              </a:rPr>
              <a:t>●   </a:t>
            </a:r>
            <a:r>
              <a:rPr sz="1600" b="0" i="0">
                <a:solidFill>
                  <a:srgbClr val="F0F6FC"/>
                </a:solidFill>
                <a:latin typeface="Calibri"/>
              </a:rPr>
              <a:t>System 2 (14B) takes complex reasoning and drafting</a:t>
            </a:r>
          </a:p>
          <a:p>
            <a:pPr algn="l">
              <a:spcAft>
                <a:spcPts val="1200"/>
              </a:spcAft>
            </a:pPr>
            <a:r>
              <a:rPr sz="1100" b="1" i="0">
                <a:solidFill>
                  <a:srgbClr val="34D399"/>
                </a:solidFill>
                <a:latin typeface="Calibri"/>
              </a:rPr>
              <a:t>●   </a:t>
            </a:r>
            <a:r>
              <a:rPr sz="1600" b="0" i="0">
                <a:solidFill>
                  <a:srgbClr val="F0F6FC"/>
                </a:solidFill>
                <a:latin typeface="Calibri"/>
              </a:rPr>
              <a:t>A human-in-the-loop gate before any action, with zero cloud calls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166360"/>
            <a:ext cx="11094415" cy="685800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16636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1">
                <a:solidFill>
                  <a:srgbClr val="F0F6FC"/>
                </a:solidFill>
                <a:latin typeface="Calibri"/>
              </a:rPr>
              <a:t>The hard part isn't storing things. It's the thousands of small judgements.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8BDF8"/>
                </a:solidFill>
                <a:latin typeface="Calibri"/>
              </a:rPr>
              <a:t>03  · 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0F6FC"/>
                </a:solidFill>
                <a:latin typeface="Calibri"/>
              </a:rPr>
              <a:t>One Laptop. One Brain. Seven Roles.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B949E"/>
                </a:solidFill>
                <a:latin typeface="Calibri"/>
              </a:rPr>
              <a:t>Omnitrix  ·  MSRIT Hackathon  ·  Track 1 Sovereign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B949E"/>
                </a:solidFill>
                <a:latin typeface="Calibri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37755" y="1664208"/>
            <a:ext cx="5617342" cy="1874519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74915" y="17373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8BDF8"/>
                </a:solidFill>
                <a:latin typeface="Calibri"/>
              </a:rPr>
              <a:t>ENGRAM  ·  THE BRAIN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1600200" cy="13258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212848"/>
            <a:ext cx="12710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B949E"/>
                </a:solidFill>
                <a:latin typeface="Calibri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441448"/>
            <a:ext cx="12710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0F6FC"/>
                </a:solidFill>
                <a:latin typeface="Calibri"/>
              </a:rPr>
              <a:t>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788920"/>
            <a:ext cx="127101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B949E"/>
                </a:solidFill>
                <a:latin typeface="Calibri"/>
              </a:rPr>
              <a:t>Email · Notes · Meetings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85416" y="2720340"/>
            <a:ext cx="225491" cy="0"/>
          </a:xfrm>
          <a:prstGeom prst="line">
            <a:avLst/>
          </a:prstGeom>
          <a:ln w="19050">
            <a:solidFill>
              <a:srgbClr val="8B94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447483" y="2057400"/>
            <a:ext cx="1600200" cy="13258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2075" y="2212848"/>
            <a:ext cx="12710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8BDF8"/>
                </a:solidFill>
                <a:latin typeface="Calibri"/>
              </a:rPr>
              <a:t>S0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2075" y="2441448"/>
            <a:ext cx="12710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0F6FC"/>
                </a:solidFill>
                <a:latin typeface="Calibri"/>
              </a:rPr>
              <a:t>Code filter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12075" y="2788920"/>
            <a:ext cx="127101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B949E"/>
                </a:solidFill>
                <a:latin typeface="Calibri"/>
              </a:rPr>
              <a:t>Parse, dedupe, dates, rules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84259" y="2720340"/>
            <a:ext cx="225491" cy="0"/>
          </a:xfrm>
          <a:prstGeom prst="line">
            <a:avLst/>
          </a:prstGeom>
          <a:ln w="19050">
            <a:solidFill>
              <a:srgbClr val="8B94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46326" y="2057400"/>
            <a:ext cx="1600200" cy="13258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10918" y="2212848"/>
            <a:ext cx="12710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8BDF8"/>
                </a:solidFill>
                <a:latin typeface="Calibri"/>
              </a:rPr>
              <a:t>S1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0918" y="2441448"/>
            <a:ext cx="12710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0F6FC"/>
                </a:solidFill>
                <a:latin typeface="Calibri"/>
              </a:rPr>
              <a:t>Small judge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0918" y="2788920"/>
            <a:ext cx="127101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B949E"/>
                </a:solidFill>
                <a:latin typeface="Calibri"/>
              </a:rPr>
              <a:t>Fine-tuned 1.7B, one token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83102" y="2720340"/>
            <a:ext cx="225491" cy="0"/>
          </a:xfrm>
          <a:prstGeom prst="line">
            <a:avLst/>
          </a:prstGeom>
          <a:ln w="19050">
            <a:solidFill>
              <a:srgbClr val="8B94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245169" y="2057400"/>
            <a:ext cx="1600200" cy="13258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761" y="2212848"/>
            <a:ext cx="12710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8BDF8"/>
                </a:solidFill>
                <a:latin typeface="Calibri"/>
              </a:rPr>
              <a:t>S2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761" y="2441448"/>
            <a:ext cx="12710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0F6FC"/>
                </a:solidFill>
                <a:latin typeface="Calibri"/>
              </a:rPr>
              <a:t>14B 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9761" y="2788920"/>
            <a:ext cx="127101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B949E"/>
                </a:solidFill>
                <a:latin typeface="Calibri"/>
              </a:rPr>
              <a:t>The unsure middle, all writing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881945" y="2720340"/>
            <a:ext cx="225491" cy="0"/>
          </a:xfrm>
          <a:prstGeom prst="line">
            <a:avLst/>
          </a:prstGeom>
          <a:ln w="19050">
            <a:solidFill>
              <a:srgbClr val="8B94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144012" y="2057400"/>
            <a:ext cx="1600200" cy="13258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08604" y="2212848"/>
            <a:ext cx="12710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87171"/>
                </a:solidFill>
                <a:latin typeface="Calibri"/>
              </a:rPr>
              <a:t>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8604" y="2441448"/>
            <a:ext cx="12710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0F6FC"/>
                </a:solidFill>
                <a:latin typeface="Calibri"/>
              </a:rPr>
              <a:t>Your approval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8604" y="2788920"/>
            <a:ext cx="127101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B949E"/>
                </a:solidFill>
                <a:latin typeface="Calibri"/>
              </a:rPr>
              <a:t>Herald watch or web app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780788" y="2720340"/>
            <a:ext cx="225491" cy="0"/>
          </a:xfrm>
          <a:prstGeom prst="line">
            <a:avLst/>
          </a:prstGeom>
          <a:ln w="19050">
            <a:solidFill>
              <a:srgbClr val="8B94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042855" y="2057400"/>
            <a:ext cx="1600200" cy="13258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07447" y="2212848"/>
            <a:ext cx="12710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4D399"/>
                </a:solidFill>
                <a:latin typeface="Calibri"/>
              </a:rPr>
              <a:t>LEDGER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07447" y="2441448"/>
            <a:ext cx="12710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0F6FC"/>
                </a:solidFill>
                <a:latin typeface="Calibri"/>
              </a:rPr>
              <a:t>Audit ledger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07447" y="2788920"/>
            <a:ext cx="127101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B949E"/>
                </a:solidFill>
                <a:latin typeface="Calibri"/>
              </a:rPr>
              <a:t>Hash-chained, every decision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93192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8B949E"/>
                </a:solidFill>
                <a:latin typeface="Calibri"/>
              </a:rPr>
              <a:t>7 FUNCTIONAL ROLES ON ONE PIPELINE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4279392"/>
            <a:ext cx="1428162" cy="13258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4462272"/>
            <a:ext cx="115384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8BDF8"/>
                </a:solidFill>
                <a:latin typeface="Calibri"/>
              </a:rPr>
              <a:t>Librarian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4828032"/>
            <a:ext cx="115384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B949E"/>
                </a:solidFill>
                <a:latin typeface="Calibri"/>
              </a:rPr>
              <a:t>Ingests and files everything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159682" y="4279392"/>
            <a:ext cx="1428162" cy="13258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96842" y="4462272"/>
            <a:ext cx="115384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8BDF8"/>
                </a:solidFill>
                <a:latin typeface="Calibri"/>
              </a:rPr>
              <a:t>Researcher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96842" y="4828032"/>
            <a:ext cx="115384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B949E"/>
                </a:solidFill>
                <a:latin typeface="Calibri"/>
              </a:rPr>
              <a:t>Answers with cited sources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770724" y="4279392"/>
            <a:ext cx="1428162" cy="13258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07884" y="4462272"/>
            <a:ext cx="115384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8BDF8"/>
                </a:solidFill>
                <a:latin typeface="Calibri"/>
              </a:rPr>
              <a:t>Memory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07884" y="4828032"/>
            <a:ext cx="115384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B949E"/>
                </a:solidFill>
                <a:latin typeface="Calibri"/>
              </a:rPr>
              <a:t>Keeps promises and decisions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381766" y="4279392"/>
            <a:ext cx="1428162" cy="13258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18926" y="4462272"/>
            <a:ext cx="115384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8BDF8"/>
                </a:solidFill>
                <a:latin typeface="Calibri"/>
              </a:rPr>
              <a:t>Planner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18926" y="4828032"/>
            <a:ext cx="115384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B949E"/>
                </a:solidFill>
                <a:latin typeface="Calibri"/>
              </a:rPr>
              <a:t>Plans your day with a solver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992808" y="4279392"/>
            <a:ext cx="1428162" cy="13258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29968" y="4462272"/>
            <a:ext cx="115384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8BDF8"/>
                </a:solidFill>
                <a:latin typeface="Calibri"/>
              </a:rPr>
              <a:t>Operator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29968" y="4828032"/>
            <a:ext cx="115384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B949E"/>
                </a:solidFill>
                <a:latin typeface="Calibri"/>
              </a:rPr>
              <a:t>Acts in your tools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603850" y="4279392"/>
            <a:ext cx="1428162" cy="13258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41010" y="4462272"/>
            <a:ext cx="115384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8BDF8"/>
                </a:solidFill>
                <a:latin typeface="Calibri"/>
              </a:rPr>
              <a:t>Guardian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41010" y="4828032"/>
            <a:ext cx="115384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B949E"/>
                </a:solidFill>
                <a:latin typeface="Calibri"/>
              </a:rPr>
              <a:t>Gates every action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214893" y="4279392"/>
            <a:ext cx="1428162" cy="13258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352053" y="4462272"/>
            <a:ext cx="115384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8BDF8"/>
                </a:solidFill>
                <a:latin typeface="Calibri"/>
              </a:rPr>
              <a:t>Herald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52053" y="4828032"/>
            <a:ext cx="115384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B949E"/>
                </a:solidFill>
                <a:latin typeface="Calibri"/>
              </a:rPr>
              <a:t>Reaches you on the watch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8BDF8"/>
                </a:solidFill>
                <a:latin typeface="Calibri"/>
              </a:rPr>
              <a:t>04  ·  LOCAL MODEL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0F6FC"/>
                </a:solidFill>
                <a:latin typeface="Calibri"/>
              </a:rPr>
              <a:t>A 1.7B Fine-Tuned Model Beats a 14B General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B949E"/>
                </a:solidFill>
                <a:latin typeface="Calibri"/>
              </a:rPr>
              <a:t>Omnitrix  ·  MSRIT Hackathon  ·  Track 1 Sovereign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B949E"/>
                </a:solidFill>
                <a:latin typeface="Calibri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454298" cy="22402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10512"/>
            <a:ext cx="281421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38BDF8"/>
                </a:solidFill>
                <a:latin typeface="Calibri"/>
              </a:rPr>
              <a:t>54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24912"/>
            <a:ext cx="28142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0F6FC"/>
                </a:solidFill>
                <a:latin typeface="Calibri"/>
              </a:rPr>
              <a:t>Local LoRA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90672"/>
            <a:ext cx="281421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B949E"/>
                </a:solidFill>
                <a:latin typeface="Calibri"/>
              </a:rPr>
              <a:t>on the Mac with MLX, peak 18 GB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0200"/>
            <a:ext cx="3454298" cy="22402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8738" y="1810512"/>
            <a:ext cx="281421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34D399"/>
                </a:solidFill>
                <a:latin typeface="Calibri"/>
              </a:rPr>
              <a:t>5,958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8738" y="2724912"/>
            <a:ext cx="28142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0F6FC"/>
                </a:solidFill>
                <a:latin typeface="Calibri"/>
              </a:rPr>
              <a:t>Behavioural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8738" y="3090672"/>
            <a:ext cx="281421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B949E"/>
                </a:solidFill>
                <a:latin typeface="Calibri"/>
              </a:rPr>
              <a:t>from the owner's own replies and filing, and EnronQA answers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8756" y="1600200"/>
            <a:ext cx="3454298" cy="22402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8796" y="1810512"/>
            <a:ext cx="281421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38BDF8"/>
                </a:solidFill>
                <a:latin typeface="Calibri"/>
              </a:rPr>
              <a:t>3–5×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8796" y="2724912"/>
            <a:ext cx="281421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0F6FC"/>
                </a:solidFill>
                <a:latin typeface="Calibri"/>
              </a:rPr>
              <a:t>Faster than the 14B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8796" y="3090672"/>
            <a:ext cx="281421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B949E"/>
                </a:solidFill>
                <a:latin typeface="Calibri"/>
              </a:rPr>
              <a:t>zero-shot, on the same decisions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69080"/>
            <a:ext cx="11094415" cy="21031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51960"/>
            <a:ext cx="103628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Calibri"/>
              </a:rPr>
              <a:t>WHY A SMALL LOCAL JUDGE WINS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53712"/>
            <a:ext cx="1036289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F0F6FC"/>
                </a:solidFill>
                <a:latin typeface="Calibri"/>
              </a:rPr>
              <a:t>We fine-tune skills, never facts: knowledge stays in local Postgres, where it can be cited and deleted.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F0F6FC"/>
                </a:solidFill>
                <a:latin typeface="Calibri"/>
              </a:rPr>
              <a:t>Trained on four decisions, the fine-tuned 1.7B beats the zero-shot 14B on every one: supported? 96.6% vs 95.5% · relevant? 90.9% vs 87.5% · will reply? 60.1% vs 55.4% · folder 52.7% vs 47.9%.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8B949E"/>
                </a:solidFill>
                <a:latin typeface="Calibri"/>
              </a:rPr>
              <a:t>Fused and quantized to 4-bit it is a 934 MB model, 2.9× faster again with no loss in accuracy.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8BDF8"/>
                </a:solidFill>
                <a:latin typeface="Calibri"/>
              </a:rPr>
              <a:t>05  ·  VERIFICATION &amp; GATED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0F6FC"/>
                </a:solidFill>
                <a:latin typeface="Calibri"/>
              </a:rPr>
              <a:t>Checked Answers. Gated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B949E"/>
                </a:solidFill>
                <a:latin typeface="Calibri"/>
              </a:rPr>
              <a:t>Omnitrix  ·  MSRIT Hackathon  ·  Track 1 Sovereign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B949E"/>
                </a:solidFill>
                <a:latin typeface="Calibri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96331" cy="3429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466481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8BDF8"/>
                </a:solidFill>
                <a:latin typeface="Calibri"/>
              </a:rPr>
              <a:t>ANSWERS CHECKED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664811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0F6FC"/>
                </a:solidFill>
                <a:latin typeface="Calibri"/>
              </a:rPr>
              <a:t>84% vs 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35808"/>
            <a:ext cx="46648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8B949E"/>
                </a:solidFill>
                <a:latin typeface="Calibri"/>
              </a:rPr>
              <a:t>right when the small judge vouches vs when it doesn't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4664811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1" i="0">
                <a:solidFill>
                  <a:srgbClr val="38BDF8"/>
                </a:solidFill>
                <a:latin typeface="Calibri"/>
              </a:rPr>
              <a:t>●   </a:t>
            </a:r>
            <a:r>
              <a:rPr sz="1400" b="0" i="0">
                <a:solidFill>
                  <a:srgbClr val="F0F6FC"/>
                </a:solidFill>
                <a:latin typeface="Calibri"/>
              </a:rPr>
              <a:t>AUROC 0.92 on 100 held-out questions</a:t>
            </a:r>
          </a:p>
          <a:p>
            <a:pPr algn="l">
              <a:spcAft>
                <a:spcPts val="800"/>
              </a:spcAft>
            </a:pPr>
            <a:r>
              <a:rPr sz="900" b="1" i="0">
                <a:solidFill>
                  <a:srgbClr val="38BDF8"/>
                </a:solidFill>
                <a:latin typeface="Calibri"/>
              </a:rPr>
              <a:t>●   </a:t>
            </a:r>
            <a:r>
              <a:rPr sz="1400" b="0" i="0">
                <a:solidFill>
                  <a:srgbClr val="F0F6FC"/>
                </a:solidFill>
                <a:latin typeface="Calibri"/>
              </a:rPr>
              <a:t>The local judge checks each answer against the emails it cites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6723" y="1600200"/>
            <a:ext cx="5396331" cy="3429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2483" y="1874519"/>
            <a:ext cx="466481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4D399"/>
                </a:solidFill>
                <a:latin typeface="Calibri"/>
              </a:rPr>
              <a:t>ACTIONS GATED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2483" y="2176272"/>
            <a:ext cx="4664811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0F6FC"/>
                </a:solidFill>
                <a:latin typeface="Calibri"/>
              </a:rPr>
              <a:t>40.0% → 6.7%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2483" y="3035808"/>
            <a:ext cx="46648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8B949E"/>
                </a:solidFill>
                <a:latin typeface="Calibri"/>
              </a:rPr>
              <a:t>harmful side effects on 60 fresh sandbox tasks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2483" y="3657600"/>
            <a:ext cx="4664811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1" i="0">
                <a:solidFill>
                  <a:srgbClr val="34D399"/>
                </a:solidFill>
                <a:latin typeface="Calibri"/>
              </a:rPr>
              <a:t>●   </a:t>
            </a:r>
            <a:r>
              <a:rPr sz="1400" b="0" i="0">
                <a:solidFill>
                  <a:srgbClr val="F0F6FC"/>
                </a:solidFill>
                <a:latin typeface="Calibri"/>
              </a:rPr>
              <a:t>0.62 owner prompts per task (approve-all: 0.97)</a:t>
            </a:r>
          </a:p>
          <a:p>
            <a:pPr algn="l">
              <a:spcAft>
                <a:spcPts val="800"/>
              </a:spcAft>
            </a:pPr>
            <a:r>
              <a:rPr sz="900" b="1" i="0">
                <a:solidFill>
                  <a:srgbClr val="34D399"/>
                </a:solidFill>
                <a:latin typeface="Calibri"/>
              </a:rPr>
              <a:t>●   </a:t>
            </a:r>
            <a:r>
              <a:rPr sz="1400" b="0" i="0">
                <a:solidFill>
                  <a:srgbClr val="F0F6FC"/>
                </a:solidFill>
                <a:latin typeface="Calibri"/>
              </a:rPr>
              <a:t>Code sets the risk · the 14B checks intent · you approve</a:t>
            </a:r>
          </a:p>
          <a:p>
            <a:pPr algn="l">
              <a:spcAft>
                <a:spcPts val="800"/>
              </a:spcAft>
            </a:pPr>
            <a:r>
              <a:rPr sz="900" b="1" i="0">
                <a:solidFill>
                  <a:srgbClr val="34D399"/>
                </a:solidFill>
                <a:latin typeface="Calibri"/>
              </a:rPr>
              <a:t>●   </a:t>
            </a:r>
            <a:r>
              <a:rPr sz="1400" b="0" i="0">
                <a:solidFill>
                  <a:srgbClr val="F0F6FC"/>
                </a:solidFill>
                <a:latin typeface="Calibri"/>
              </a:rPr>
              <a:t>Herald on Wear OS: approved on the wrist, ledgered 19 s after the gate paused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303520"/>
            <a:ext cx="11094415" cy="640080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3035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1">
                <a:solidFill>
                  <a:srgbClr val="F0F6FC"/>
                </a:solidFill>
                <a:latin typeface="Calibri"/>
              </a:rPr>
              <a:t>A small model may raise suspicion, never grant permission.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8BDF8"/>
                </a:solidFill>
                <a:latin typeface="Calibri"/>
              </a:rPr>
              <a:t>06  ·  WHAT YOU SEE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0F6FC"/>
                </a:solidFill>
                <a:latin typeface="Calibri"/>
              </a:rPr>
              <a:t>Interface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8B949E"/>
                </a:solidFill>
                <a:latin typeface="Calibri"/>
              </a:rPr>
              <a:t>Local web dashboard, constellation map and cryptographic ledger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B949E"/>
                </a:solidFill>
                <a:latin typeface="Calibri"/>
              </a:rPr>
              <a:t>Omnitrix  ·  MSRIT Hackathon  ·  Track 1 Sovereign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B949E"/>
                </a:solidFill>
                <a:latin typeface="Calibri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72768"/>
            <a:ext cx="5396331" cy="2011680"/>
          </a:xfrm>
          <a:prstGeom prst="roundRect">
            <a:avLst>
              <a:gd name="adj" fmla="val 4000"/>
            </a:avLst>
          </a:prstGeom>
          <a:solidFill>
            <a:srgbClr val="0B0F17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280-dark-06-answer.png"/>
          <p:cNvPicPr>
            <a:picLocks noChangeAspect="1"/>
          </p:cNvPicPr>
          <p:nvPr/>
        </p:nvPicPr>
        <p:blipFill>
          <a:blip r:embed="rId2"/>
          <a:srcRect b="20000"/>
          <a:stretch>
            <a:fillRect/>
          </a:stretch>
        </p:blipFill>
        <p:spPr>
          <a:xfrm>
            <a:off x="1381429" y="1645920"/>
            <a:ext cx="3730752" cy="18653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3657600"/>
            <a:ext cx="53963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0F6FC"/>
                </a:solidFill>
                <a:latin typeface="Calibri"/>
              </a:rPr>
              <a:t>Constellation Graph (3D Memory Map)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6723" y="1572768"/>
            <a:ext cx="5396331" cy="2011680"/>
          </a:xfrm>
          <a:prstGeom prst="roundRect">
            <a:avLst>
              <a:gd name="adj" fmla="val 4000"/>
            </a:avLst>
          </a:prstGeom>
          <a:solidFill>
            <a:srgbClr val="0B0F17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280-dark-07-atlas.png"/>
          <p:cNvPicPr>
            <a:picLocks noChangeAspect="1"/>
          </p:cNvPicPr>
          <p:nvPr/>
        </p:nvPicPr>
        <p:blipFill>
          <a:blip r:embed="rId3"/>
          <a:srcRect b="20000"/>
          <a:stretch>
            <a:fillRect/>
          </a:stretch>
        </p:blipFill>
        <p:spPr>
          <a:xfrm>
            <a:off x="7079513" y="1645920"/>
            <a:ext cx="3730752" cy="18653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46723" y="3657600"/>
            <a:ext cx="53963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0F6FC"/>
                </a:solidFill>
                <a:latin typeface="Calibri"/>
              </a:rPr>
              <a:t>Schema Atlas &amp; SQL Inspector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95928"/>
            <a:ext cx="5396331" cy="2011680"/>
          </a:xfrm>
          <a:prstGeom prst="roundRect">
            <a:avLst>
              <a:gd name="adj" fmla="val 4000"/>
            </a:avLst>
          </a:prstGeom>
          <a:solidFill>
            <a:srgbClr val="0B0F17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1280-dark-09-agents.png"/>
          <p:cNvPicPr>
            <a:picLocks noChangeAspect="1"/>
          </p:cNvPicPr>
          <p:nvPr/>
        </p:nvPicPr>
        <p:blipFill>
          <a:blip r:embed="rId4"/>
          <a:srcRect b="20000"/>
          <a:stretch>
            <a:fillRect/>
          </a:stretch>
        </p:blipFill>
        <p:spPr>
          <a:xfrm>
            <a:off x="1381429" y="4069080"/>
            <a:ext cx="3730752" cy="18653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080760"/>
            <a:ext cx="53963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0F6FC"/>
                </a:solidFill>
                <a:latin typeface="Calibri"/>
              </a:rPr>
              <a:t>Bitemporal Belief Timeline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6723" y="3995928"/>
            <a:ext cx="5396331" cy="2011680"/>
          </a:xfrm>
          <a:prstGeom prst="roundRect">
            <a:avLst>
              <a:gd name="adj" fmla="val 4000"/>
            </a:avLst>
          </a:prstGeom>
          <a:solidFill>
            <a:srgbClr val="0B0F17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1280-dark-16-audit-verified.png"/>
          <p:cNvPicPr>
            <a:picLocks noChangeAspect="1"/>
          </p:cNvPicPr>
          <p:nvPr/>
        </p:nvPicPr>
        <p:blipFill>
          <a:blip r:embed="rId5"/>
          <a:srcRect b="20000"/>
          <a:stretch>
            <a:fillRect/>
          </a:stretch>
        </p:blipFill>
        <p:spPr>
          <a:xfrm>
            <a:off x="7079513" y="4069080"/>
            <a:ext cx="3730752" cy="18653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46723" y="6080760"/>
            <a:ext cx="53963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0F6FC"/>
                </a:solidFill>
                <a:latin typeface="Calibri"/>
              </a:rPr>
              <a:t>Tamper-Evident Cryptographic Audit Log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8BDF8"/>
                </a:solidFill>
                <a:latin typeface="Calibri"/>
              </a:rPr>
              <a:t>07  ·  SOVEREIGN BY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0F6FC"/>
                </a:solidFill>
                <a:latin typeface="Calibri"/>
              </a:rPr>
              <a:t>Sovereign by Design. Ready for DPDP.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8B949E"/>
                </a:solidFill>
                <a:latin typeface="Calibri"/>
              </a:rPr>
              <a:t>India's DPDP Rules: 1-year access logs · 72-hour breach reports · penalties up to ₹250 crore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B949E"/>
                </a:solidFill>
                <a:latin typeface="Calibri"/>
              </a:rPr>
              <a:t>Omnitrix  ·  MSRIT Hackathon  ·  Track 1 Sovereign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B949E"/>
                </a:solidFill>
                <a:latin typeface="Calibri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2602153" cy="10058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214495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8BDF8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84248"/>
            <a:ext cx="214495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0F6FC"/>
                </a:solidFill>
                <a:latin typeface="Calibri"/>
              </a:rPr>
              <a:t>Postgres + pgvector local storage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79393" y="1600200"/>
            <a:ext cx="2602153" cy="10058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7993" y="1737360"/>
            <a:ext cx="214495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8BDF8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7993" y="1984248"/>
            <a:ext cx="214495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0F6FC"/>
                </a:solidFill>
                <a:latin typeface="Calibri"/>
              </a:rPr>
              <a:t>Ollama + MLX local runtime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0147" y="1600200"/>
            <a:ext cx="2602153" cy="10058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8747" y="1737360"/>
            <a:ext cx="214495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8BDF8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8747" y="1984248"/>
            <a:ext cx="214495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0F6FC"/>
                </a:solidFill>
                <a:latin typeface="Calibri"/>
              </a:rPr>
              <a:t>Direct Wi-Fi Wear OS connection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40901" y="1600200"/>
            <a:ext cx="2602153" cy="10058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69501" y="1737360"/>
            <a:ext cx="214495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8BDF8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9501" y="1984248"/>
            <a:ext cx="214495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0F6FC"/>
                </a:solidFill>
                <a:latin typeface="Calibri"/>
              </a:rPr>
              <a:t>Hash-chained audit ledger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48640" y="2834640"/>
          <a:ext cx="11094415" cy="30083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17320"/>
                <a:gridCol w="2743200"/>
                <a:gridCol w="3337560"/>
                <a:gridCol w="3596335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8BDF8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 marL="137160" marR="137160" marT="54864" marB="54864" anchor="ctr">
                    <a:lnL w="12700">
                      <a:solidFill>
                        <a:srgbClr val="30363D"/>
                      </a:solidFill>
                    </a:lnL>
                    <a:lnR w="12700">
                      <a:solidFill>
                        <a:srgbClr val="30363D"/>
                      </a:solidFill>
                    </a:lnR>
                    <a:lnT w="1270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8BDF8"/>
                          </a:solidFill>
                          <a:latin typeface="Calibri"/>
                        </a:rPr>
                        <a:t>METHODOLOGY</a:t>
                      </a:r>
                    </a:p>
                  </a:txBody>
                  <a:tcPr marL="137160" marR="137160" marT="54864" marB="54864" anchor="ctr">
                    <a:lnL w="12700">
                      <a:solidFill>
                        <a:srgbClr val="30363D"/>
                      </a:solidFill>
                    </a:lnL>
                    <a:lnR w="12700">
                      <a:solidFill>
                        <a:srgbClr val="30363D"/>
                      </a:solidFill>
                    </a:lnR>
                    <a:lnT w="1270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8BDF8"/>
                          </a:solidFill>
                          <a:latin typeface="Calibri"/>
                        </a:rPr>
                        <a:t>KNOWN VULNERABILITY / LIMITATION</a:t>
                      </a:r>
                    </a:p>
                  </a:txBody>
                  <a:tcPr marL="137160" marR="137160" marT="54864" marB="54864" anchor="ctr">
                    <a:lnL w="12700">
                      <a:solidFill>
                        <a:srgbClr val="30363D"/>
                      </a:solidFill>
                    </a:lnL>
                    <a:lnR w="12700">
                      <a:solidFill>
                        <a:srgbClr val="30363D"/>
                      </a:solidFill>
                    </a:lnR>
                    <a:lnT w="1270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38BDF8"/>
                          </a:solidFill>
                          <a:latin typeface="Calibri"/>
                        </a:rPr>
                        <a:t>OMNITRIX ADVANTAGE</a:t>
                      </a:r>
                    </a:p>
                  </a:txBody>
                  <a:tcPr marL="137160" marR="137160" marT="54864" marB="54864" anchor="ctr">
                    <a:lnL w="12700">
                      <a:solidFill>
                        <a:srgbClr val="30363D"/>
                      </a:solidFill>
                    </a:lnL>
                    <a:lnR w="12700">
                      <a:solidFill>
                        <a:srgbClr val="30363D"/>
                      </a:solidFill>
                    </a:lnR>
                    <a:lnT w="1270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  <a:solidFill>
                      <a:srgbClr val="161B22"/>
                    </a:solidFill>
                  </a:tcPr>
                </a:tc>
              </a:tr>
              <a:tr h="64922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0F6FC"/>
                          </a:solidFill>
                          <a:latin typeface="Calibri"/>
                        </a:rPr>
                        <a:t>Mem0</a:t>
                      </a:r>
                    </a:p>
                  </a:txBody>
                  <a:tcPr marL="137160" marR="137160" marT="54864" marB="54864" anchor="ctr">
                    <a:lnL w="12700">
                      <a:solidFill>
                        <a:srgbClr val="30363D"/>
                      </a:solidFill>
                    </a:lnL>
                    <a:lnR w="12700">
                      <a:solidFill>
                        <a:srgbClr val="30363D"/>
                      </a:solidFill>
                    </a:lnR>
                    <a:lnT w="1270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  <a:solidFill>
                      <a:srgbClr val="0B0F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8B949E"/>
                          </a:solidFill>
                          <a:latin typeface="Calibri"/>
                        </a:rPr>
                        <a:t>ADD-only memory; local server sunset (Jul 2026)</a:t>
                      </a:r>
                    </a:p>
                  </a:txBody>
                  <a:tcPr marL="137160" marR="137160" marT="54864" marB="54864" anchor="ctr">
                    <a:lnL w="12700">
                      <a:solidFill>
                        <a:srgbClr val="30363D"/>
                      </a:solidFill>
                    </a:lnL>
                    <a:lnR w="12700">
                      <a:solidFill>
                        <a:srgbClr val="30363D"/>
                      </a:solidFill>
                    </a:lnR>
                    <a:lnT w="1270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  <a:solidFill>
                      <a:srgbClr val="0B0F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8B949E"/>
                          </a:solidFill>
                          <a:latin typeface="Calibri"/>
                        </a:rPr>
                        <a:t>97.8% junk in a 10,134-memory audit</a:t>
                      </a:r>
                    </a:p>
                  </a:txBody>
                  <a:tcPr marL="137160" marR="137160" marT="54864" marB="54864" anchor="ctr">
                    <a:lnL w="12700">
                      <a:solidFill>
                        <a:srgbClr val="30363D"/>
                      </a:solidFill>
                    </a:lnL>
                    <a:lnR w="12700">
                      <a:solidFill>
                        <a:srgbClr val="30363D"/>
                      </a:solidFill>
                    </a:lnR>
                    <a:lnT w="1270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  <a:solidFill>
                      <a:srgbClr val="0B0F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4D399"/>
                          </a:solidFill>
                          <a:latin typeface="Calibri"/>
                        </a:rPr>
                        <a:t>Small-judge write gate: 151 → 36 beliefs on 60 emails</a:t>
                      </a:r>
                    </a:p>
                  </a:txBody>
                  <a:tcPr marL="137160" marR="137160" marT="54864" marB="54864" anchor="ctr">
                    <a:lnL w="12700">
                      <a:solidFill>
                        <a:srgbClr val="30363D"/>
                      </a:solidFill>
                    </a:lnL>
                    <a:lnR w="12700">
                      <a:solidFill>
                        <a:srgbClr val="30363D"/>
                      </a:solidFill>
                    </a:lnR>
                    <a:lnT w="1270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  <a:solidFill>
                      <a:srgbClr val="0B0F17"/>
                    </a:solidFill>
                  </a:tcPr>
                </a:tc>
              </a:tr>
              <a:tr h="64922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0F6FC"/>
                          </a:solidFill>
                          <a:latin typeface="Calibri"/>
                        </a:rPr>
                        <a:t>Graphiti</a:t>
                      </a:r>
                    </a:p>
                  </a:txBody>
                  <a:tcPr marL="137160" marR="137160" marT="54864" marB="54864" anchor="ctr">
                    <a:lnL w="12700">
                      <a:solidFill>
                        <a:srgbClr val="30363D"/>
                      </a:solidFill>
                    </a:lnL>
                    <a:lnR w="12700">
                      <a:solidFill>
                        <a:srgbClr val="30363D"/>
                      </a:solidFill>
                    </a:lnR>
                    <a:lnT w="1270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  <a:solidFill>
                      <a:srgbClr val="0B0F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8B949E"/>
                          </a:solidFill>
                          <a:latin typeface="Calibri"/>
                        </a:rPr>
                        <a:t>A small-model judge updates facts</a:t>
                      </a:r>
                    </a:p>
                  </a:txBody>
                  <a:tcPr marL="137160" marR="137160" marT="54864" marB="54864" anchor="ctr">
                    <a:lnL w="12700">
                      <a:solidFill>
                        <a:srgbClr val="30363D"/>
                      </a:solidFill>
                    </a:lnL>
                    <a:lnR w="12700">
                      <a:solidFill>
                        <a:srgbClr val="30363D"/>
                      </a:solidFill>
                    </a:lnR>
                    <a:lnT w="1270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  <a:solidFill>
                      <a:srgbClr val="0B0F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8B949E"/>
                          </a:solidFill>
                          <a:latin typeface="Calibri"/>
                        </a:rPr>
                        <a:t>Invalidated 41% of ~3,950 facts, silently</a:t>
                      </a:r>
                    </a:p>
                  </a:txBody>
                  <a:tcPr marL="137160" marR="137160" marT="54864" marB="54864" anchor="ctr">
                    <a:lnL w="12700">
                      <a:solidFill>
                        <a:srgbClr val="30363D"/>
                      </a:solidFill>
                    </a:lnL>
                    <a:lnR w="12700">
                      <a:solidFill>
                        <a:srgbClr val="30363D"/>
                      </a:solidFill>
                    </a:lnR>
                    <a:lnT w="1270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  <a:solidFill>
                      <a:srgbClr val="0B0F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4D399"/>
                          </a:solidFill>
                          <a:latin typeface="Calibri"/>
                        </a:rPr>
                        <a:t>Contradictions are shown to you, never silently retired</a:t>
                      </a:r>
                    </a:p>
                  </a:txBody>
                  <a:tcPr marL="137160" marR="137160" marT="54864" marB="54864" anchor="ctr">
                    <a:lnL w="12700">
                      <a:solidFill>
                        <a:srgbClr val="30363D"/>
                      </a:solidFill>
                    </a:lnL>
                    <a:lnR w="12700">
                      <a:solidFill>
                        <a:srgbClr val="30363D"/>
                      </a:solidFill>
                    </a:lnR>
                    <a:lnT w="1270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  <a:solidFill>
                      <a:srgbClr val="0B0F17"/>
                    </a:solidFill>
                  </a:tcPr>
                </a:tc>
              </a:tr>
              <a:tr h="64922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0F6FC"/>
                          </a:solidFill>
                          <a:latin typeface="Calibri"/>
                        </a:rPr>
                        <a:t>GBrain</a:t>
                      </a:r>
                    </a:p>
                  </a:txBody>
                  <a:tcPr marL="137160" marR="137160" marT="54864" marB="54864" anchor="ctr">
                    <a:lnL w="12700">
                      <a:solidFill>
                        <a:srgbClr val="30363D"/>
                      </a:solidFill>
                    </a:lnL>
                    <a:lnR w="12700">
                      <a:solidFill>
                        <a:srgbClr val="30363D"/>
                      </a:solidFill>
                    </a:lnR>
                    <a:lnT w="1270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  <a:solidFill>
                      <a:srgbClr val="0B0F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8B949E"/>
                          </a:solidFill>
                          <a:latin typeface="Calibri"/>
                        </a:rPr>
                        <a:t>Postgres memory; LLM features hosted by default</a:t>
                      </a:r>
                    </a:p>
                  </a:txBody>
                  <a:tcPr marL="137160" marR="137160" marT="54864" marB="54864" anchor="ctr">
                    <a:lnL w="12700">
                      <a:solidFill>
                        <a:srgbClr val="30363D"/>
                      </a:solidFill>
                    </a:lnL>
                    <a:lnR w="12700">
                      <a:solidFill>
                        <a:srgbClr val="30363D"/>
                      </a:solidFill>
                    </a:lnR>
                    <a:lnT w="1270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  <a:solidFill>
                      <a:srgbClr val="0B0F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8B949E"/>
                          </a:solidFill>
                          <a:latin typeface="Calibri"/>
                        </a:rPr>
                        <a:t>No per-decision confidence</a:t>
                      </a:r>
                    </a:p>
                  </a:txBody>
                  <a:tcPr marL="137160" marR="137160" marT="54864" marB="54864" anchor="ctr">
                    <a:lnL w="12700">
                      <a:solidFill>
                        <a:srgbClr val="30363D"/>
                      </a:solidFill>
                    </a:lnL>
                    <a:lnR w="12700">
                      <a:solidFill>
                        <a:srgbClr val="30363D"/>
                      </a:solidFill>
                    </a:lnR>
                    <a:lnT w="1270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  <a:solidFill>
                      <a:srgbClr val="0B0F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34D399"/>
                          </a:solidFill>
                          <a:latin typeface="Calibri"/>
                        </a:rPr>
                        <a:t>A calibrated probability on every decision, in the ledger</a:t>
                      </a:r>
                    </a:p>
                  </a:txBody>
                  <a:tcPr marL="137160" marR="137160" marT="54864" marB="54864" anchor="ctr">
                    <a:lnL w="12700">
                      <a:solidFill>
                        <a:srgbClr val="30363D"/>
                      </a:solidFill>
                    </a:lnL>
                    <a:lnR w="12700">
                      <a:solidFill>
                        <a:srgbClr val="30363D"/>
                      </a:solidFill>
                    </a:lnR>
                    <a:lnT w="1270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  <a:solidFill>
                      <a:srgbClr val="0B0F17"/>
                    </a:solidFill>
                  </a:tcPr>
                </a:tc>
              </a:tr>
              <a:tr h="64922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34D399"/>
                          </a:solidFill>
                          <a:latin typeface="Calibri"/>
                        </a:rPr>
                        <a:t>Omnitrix</a:t>
                      </a:r>
                    </a:p>
                  </a:txBody>
                  <a:tcPr marL="137160" marR="137160" marT="54864" marB="54864" anchor="ctr">
                    <a:lnL w="12700">
                      <a:solidFill>
                        <a:srgbClr val="30363D"/>
                      </a:solidFill>
                    </a:lnL>
                    <a:lnR w="12700">
                      <a:solidFill>
                        <a:srgbClr val="30363D"/>
                      </a:solidFill>
                    </a:lnR>
                    <a:lnT w="1270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  <a:solidFill>
                      <a:srgbClr val="1A3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0F6FC"/>
                          </a:solidFill>
                          <a:latin typeface="Calibri"/>
                        </a:rPr>
                        <a:t>Fine-tuned local judge + 14B + hash-chained ledger</a:t>
                      </a:r>
                    </a:p>
                  </a:txBody>
                  <a:tcPr marL="137160" marR="137160" marT="54864" marB="54864" anchor="ctr">
                    <a:lnL w="12700">
                      <a:solidFill>
                        <a:srgbClr val="30363D"/>
                      </a:solidFill>
                    </a:lnL>
                    <a:lnR w="12700">
                      <a:solidFill>
                        <a:srgbClr val="30363D"/>
                      </a:solidFill>
                    </a:lnR>
                    <a:lnT w="1270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  <a:solidFill>
                      <a:srgbClr val="1A3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0F6FC"/>
                          </a:solidFill>
                          <a:latin typeface="Calibri"/>
                        </a:rPr>
                        <a:t>Measured weak spot: the “worth remembering?” gate is 72%</a:t>
                      </a:r>
                    </a:p>
                  </a:txBody>
                  <a:tcPr marL="137160" marR="137160" marT="54864" marB="54864" anchor="ctr">
                    <a:lnL w="12700">
                      <a:solidFill>
                        <a:srgbClr val="30363D"/>
                      </a:solidFill>
                    </a:lnL>
                    <a:lnR w="12700">
                      <a:solidFill>
                        <a:srgbClr val="30363D"/>
                      </a:solidFill>
                    </a:lnR>
                    <a:lnT w="1270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  <a:solidFill>
                      <a:srgbClr val="1A31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F0F6FC"/>
                          </a:solidFill>
                          <a:latin typeface="Calibri"/>
                        </a:rPr>
                        <a:t>All local; every decision auditable</a:t>
                      </a:r>
                    </a:p>
                  </a:txBody>
                  <a:tcPr marL="137160" marR="137160" marT="54864" marB="54864" anchor="ctr">
                    <a:lnL w="12700">
                      <a:solidFill>
                        <a:srgbClr val="30363D"/>
                      </a:solidFill>
                    </a:lnL>
                    <a:lnR w="12700">
                      <a:solidFill>
                        <a:srgbClr val="30363D"/>
                      </a:solidFill>
                    </a:lnR>
                    <a:lnT w="1270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  <a:solidFill>
                      <a:srgbClr val="1A31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8BDF8"/>
                </a:solidFill>
                <a:latin typeface="Calibri"/>
              </a:rPr>
              <a:t>08  ·  DEMO, LIMITS,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0F6FC"/>
                </a:solidFill>
                <a:latin typeface="Calibri"/>
              </a:rPr>
              <a:t>Five Minutes Live. Every Limit Measured.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B949E"/>
                </a:solidFill>
                <a:latin typeface="Calibri"/>
              </a:rPr>
              <a:t>Omnitrix  ·  MSRIT Hackathon  ·  Track 1 Sovereign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B949E"/>
                </a:solidFill>
                <a:latin typeface="Calibri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4572000" cy="33832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737360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8BDF8"/>
                </a:solidFill>
                <a:latin typeface="Calibri"/>
              </a:rPr>
              <a:t>DEMO · 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121408"/>
            <a:ext cx="402336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38BDF8"/>
                </a:solidFill>
                <a:latin typeface="Calibri"/>
              </a:rPr>
              <a:t>1   </a:t>
            </a:r>
            <a:r>
              <a:rPr sz="1300" b="0" i="0">
                <a:solidFill>
                  <a:srgbClr val="F0F6FC"/>
                </a:solidFill>
                <a:latin typeface="Calibri"/>
              </a:rPr>
              <a:t>Sign in to the kaminski brain</a:t>
            </a:r>
          </a:p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38BDF8"/>
                </a:solidFill>
                <a:latin typeface="Calibri"/>
              </a:rPr>
              <a:t>2   </a:t>
            </a:r>
            <a:r>
              <a:rPr sz="1300" b="0" i="0">
                <a:solidFill>
                  <a:srgbClr val="F0F6FC"/>
                </a:solidFill>
                <a:latin typeface="Calibri"/>
              </a:rPr>
              <a:t>Ask: “Where and at what time did Vince suggest meeting Michael Garberding on Tuesday?”</a:t>
            </a:r>
          </a:p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38BDF8"/>
                </a:solidFill>
                <a:latin typeface="Calibri"/>
              </a:rPr>
              <a:t>3   </a:t>
            </a:r>
            <a:r>
              <a:rPr sz="1300" b="0" i="0">
                <a:solidFill>
                  <a:srgbClr val="F0F6FC"/>
                </a:solidFill>
                <a:latin typeface="Calibri"/>
              </a:rPr>
              <a:t>Add an email with a promise → it becomes a belief</a:t>
            </a:r>
          </a:p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38BDF8"/>
                </a:solidFill>
                <a:latin typeface="Calibri"/>
              </a:rPr>
              <a:t>4   </a:t>
            </a:r>
            <a:r>
              <a:rPr sz="1300" b="0" i="0">
                <a:solidFill>
                  <a:srgbClr val="F0F6FC"/>
                </a:solidFill>
                <a:latin typeface="Calibri"/>
              </a:rPr>
              <a:t>Act: “Forward my most recent email from fatima to kofi” → the watch buzzes → approve</a:t>
            </a:r>
          </a:p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38BDF8"/>
                </a:solidFill>
                <a:latin typeface="Calibri"/>
              </a:rPr>
              <a:t>5   </a:t>
            </a:r>
            <a:r>
              <a:rPr sz="1300" b="0" i="0">
                <a:solidFill>
                  <a:srgbClr val="F0F6FC"/>
                </a:solidFill>
                <a:latin typeface="Calibri"/>
              </a:rPr>
              <a:t>Audit: the newest ledger row is owner:watch → Verify chain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67527" y="1508760"/>
            <a:ext cx="3108960" cy="33832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41847" y="1737360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87171"/>
                </a:solidFill>
                <a:latin typeface="Calibri"/>
              </a:rPr>
              <a:t>LIMITS (MEASURED)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41847" y="2121408"/>
            <a:ext cx="256032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900" b="1" i="0">
                <a:solidFill>
                  <a:srgbClr val="F87171"/>
                </a:solidFill>
                <a:latin typeface="Calibri"/>
              </a:rPr>
              <a:t>●   </a:t>
            </a:r>
            <a:r>
              <a:rPr sz="1300" b="0" i="0">
                <a:solidFill>
                  <a:srgbClr val="F0F6FC"/>
                </a:solidFill>
                <a:latin typeface="Calibri"/>
              </a:rPr>
              <a:t>“Will they reply?” is 60.1%, so it stays a suggestion</a:t>
            </a:r>
          </a:p>
          <a:p>
            <a:pPr algn="l">
              <a:spcAft>
                <a:spcPts val="900"/>
              </a:spcAft>
            </a:pPr>
            <a:r>
              <a:rPr sz="900" b="1" i="0">
                <a:solidFill>
                  <a:srgbClr val="F87171"/>
                </a:solidFill>
                <a:latin typeface="Calibri"/>
              </a:rPr>
              <a:t>●   </a:t>
            </a:r>
            <a:r>
              <a:rPr sz="1300" b="0" i="0">
                <a:solidFill>
                  <a:srgbClr val="F0F6FC"/>
                </a:solidFill>
                <a:latin typeface="Calibri"/>
              </a:rPr>
              <a:t>The “worth remembering?” gate: 72% (AUROC 0.80)</a:t>
            </a:r>
          </a:p>
          <a:p>
            <a:pPr algn="l">
              <a:spcAft>
                <a:spcPts val="900"/>
              </a:spcAft>
            </a:pPr>
            <a:r>
              <a:rPr sz="900" b="1" i="0">
                <a:solidFill>
                  <a:srgbClr val="F87171"/>
                </a:solidFill>
                <a:latin typeface="Calibri"/>
              </a:rPr>
              <a:t>●   </a:t>
            </a:r>
            <a:r>
              <a:rPr sz="1300" b="0" i="0">
                <a:solidFill>
                  <a:srgbClr val="F0F6FC"/>
                </a:solidFill>
                <a:latin typeface="Calibri"/>
              </a:rPr>
              <a:t>The watch uses plain HTTP on the LAN</a:t>
            </a:r>
          </a:p>
          <a:p>
            <a:pPr algn="l">
              <a:spcAft>
                <a:spcPts val="900"/>
              </a:spcAft>
            </a:pPr>
            <a:r>
              <a:rPr sz="900" b="1" i="0">
                <a:solidFill>
                  <a:srgbClr val="F87171"/>
                </a:solidFill>
                <a:latin typeface="Calibri"/>
              </a:rPr>
              <a:t>●   </a:t>
            </a:r>
            <a:r>
              <a:rPr sz="1300" b="0" i="0">
                <a:solidFill>
                  <a:srgbClr val="F0F6FC"/>
                </a:solidFill>
                <a:latin typeface="Calibri"/>
              </a:rPr>
              <a:t>Bluetooth on → the watch drops Wi-Fi when asleep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23376" y="1508760"/>
            <a:ext cx="2919679" cy="33832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97696" y="1737360"/>
            <a:ext cx="23710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Calibri"/>
              </a:rPr>
              <a:t>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2121408"/>
            <a:ext cx="2371039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900" b="1" i="0">
                <a:solidFill>
                  <a:srgbClr val="34D399"/>
                </a:solidFill>
                <a:latin typeface="Calibri"/>
              </a:rPr>
              <a:t>●   </a:t>
            </a:r>
            <a:r>
              <a:rPr sz="1300" b="0" i="0">
                <a:solidFill>
                  <a:srgbClr val="F0F6FC"/>
                </a:solidFill>
                <a:latin typeface="Calibri"/>
              </a:rPr>
              <a:t>Adapter v2: + remember, meeting_request, fulfilled, contradicts</a:t>
            </a:r>
          </a:p>
          <a:p>
            <a:pPr algn="l">
              <a:spcAft>
                <a:spcPts val="900"/>
              </a:spcAft>
            </a:pPr>
            <a:r>
              <a:rPr sz="900" b="1" i="0">
                <a:solidFill>
                  <a:srgbClr val="34D399"/>
                </a:solidFill>
                <a:latin typeface="Calibri"/>
              </a:rPr>
              <a:t>●   </a:t>
            </a:r>
            <a:r>
              <a:rPr sz="1300" b="0" i="0">
                <a:solidFill>
                  <a:srgbClr val="F0F6FC"/>
                </a:solidFill>
                <a:latin typeface="Calibri"/>
              </a:rPr>
              <a:t>A learned “buzz now or later?” from your taps</a:t>
            </a:r>
          </a:p>
          <a:p>
            <a:pPr algn="l">
              <a:spcAft>
                <a:spcPts val="900"/>
              </a:spcAft>
            </a:pPr>
            <a:r>
              <a:rPr sz="900" b="1" i="0">
                <a:solidFill>
                  <a:srgbClr val="34D399"/>
                </a:solidFill>
                <a:latin typeface="Calibri"/>
              </a:rPr>
              <a:t>●   </a:t>
            </a:r>
            <a:r>
              <a:rPr sz="1300" b="0" i="0">
                <a:solidFill>
                  <a:srgbClr val="F0F6FC"/>
                </a:solidFill>
                <a:latin typeface="Calibri"/>
              </a:rPr>
              <a:t>TLS pinned at pairing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257800"/>
            <a:ext cx="11094415" cy="548640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25780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8B949E"/>
                </a:solidFill>
                <a:latin typeface="Calibri"/>
              </a:rPr>
              <a:t>Built this week:  </a:t>
            </a:r>
            <a:r>
              <a:rPr sz="1200" b="0" i="0">
                <a:solidFill>
                  <a:srgbClr val="F0F6FC"/>
                </a:solidFill>
                <a:latin typeface="Calibri"/>
              </a:rPr>
              <a:t>7,414 lines Python · 3,047 front end · 985 Kotlin · 15 SQL migrations · 113 tests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