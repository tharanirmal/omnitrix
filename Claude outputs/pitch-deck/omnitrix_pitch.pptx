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svg_10_users_amber.svg" ContentType="image/svg+xml"/>
  <Override PartName="/ppt/media/svg_11_brain_amber.svg" ContentType="image/svg+xml"/>
  <Override PartName="/ppt/media/svg_12_ladder.svg" ContentType="image/svg+xml"/>
  <Override PartName="/ppt/media/svg_13_architecture.svg" ContentType="image/svg+xml"/>
  <Override PartName="/ppt/media/svg_14_finetune_loop.svg" ContentType="image/svg+xml"/>
  <Override PartName="/ppt/media/svg_15_watch_flow.svg" ContentType="image/svg+xml"/>
  <Override PartName="/ppt/media/svg_16_lock_amber.svg" ContentType="image/svg+xml"/>
  <Override PartName="/ppt/media/svg_17_finger_amber.svg" ContentType="image/svg+xml"/>
  <Override PartName="/ppt/media/svg_18_clock_amber.svg" ContentType="image/svg+xml"/>
  <Override PartName="/ppt/media/svg_19_zap_amber.svg" ContentType="image/svg+xml"/>
  <Override PartName="/ppt/media/svg_1_layers_amber.svg" ContentType="image/svg+xml"/>
  <Override PartName="/ppt/media/svg_20_target_amber.svg" ContentType="image/svg+xml"/>
  <Override PartName="/ppt/media/svg_21_tam_sam_som.svg" ContentType="image/svg+xml"/>
  <Override PartName="/ppt/media/svg_22_cpu_amber.svg" ContentType="image/svg+xml"/>
  <Override PartName="/ppt/media/svg_23_gauge_amber.svg" ContentType="image/svg+xml"/>
  <Override PartName="/ppt/media/svg_24_shield_amber.svg" ContentType="image/svg+xml"/>
  <Override PartName="/ppt/media/svg_25_cloudoff_grey.svg" ContentType="image/svg+xml"/>
  <Override PartName="/ppt/media/svg_26_layers_grey.svg" ContentType="image/svg+xml"/>
  <Override PartName="/ppt/media/svg_27_book_grey.svg" ContentType="image/svg+xml"/>
  <Override PartName="/ppt/media/svg_28_book_amber.svg" ContentType="image/svg+xml"/>
  <Override PartName="/ppt/media/svg_29_db_amber.svg" ContentType="image/svg+xml"/>
  <Override PartName="/ppt/media/svg_2_trash_amber.svg" ContentType="image/svg+xml"/>
  <Override PartName="/ppt/media/svg_3_cloudup_amber.svg" ContentType="image/svg+xml"/>
  <Override PartName="/ppt/media/svg_4_mail_grey.svg" ContentType="image/svg+xml"/>
  <Override PartName="/ppt/media/svg_5_calendar_grey.svg" ContentType="image/svg+xml"/>
  <Override PartName="/ppt/media/svg_6_notes_grey.svg" ContentType="image/svg+xml"/>
  <Override PartName="/ppt/media/svg_7_user_amber.svg" ContentType="image/svg+xml"/>
  <Override PartName="/ppt/media/svg_8_laptop_amber.svg" ContentType="image/svg+xml"/>
  <Override PartName="/ppt/media/svg_9_sliders_amber.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4" r:id="rId15"/>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1.7B base</c:v>
                </c:pt>
              </c:strCache>
            </c:strRef>
          </c:tx>
          <c:spPr>
            <a:solidFill>
              <a:srgbClr val="5A5A5A"/>
            </a:solidFill>
            <a:ln>
              <a:noFill/>
            </a:ln>
          </c:spPr>
          <c:invertIfNegative val="0"/>
          <c:cat>
            <c:strRef>
              <c:f>Sheet1!$A$2:$A$5</c:f>
              <c:strCache>
                <c:ptCount val="4"/>
                <c:pt idx="0">
                  <c:v>supported</c:v>
                </c:pt>
                <c:pt idx="1">
                  <c:v>relevant</c:v>
                </c:pt>
                <c:pt idx="2">
                  <c:v>will reply</c:v>
                </c:pt>
                <c:pt idx="3">
                  <c:v>folder (12-way)</c:v>
                </c:pt>
              </c:strCache>
            </c:strRef>
          </c:cat>
          <c:val>
            <c:numRef>
              <c:f>Sheet1!$B$2:$B$5</c:f>
              <c:numCache>
                <c:formatCode>0.0</c:formatCode>
                <c:ptCount val="4"/>
                <c:pt idx="0">
                  <c:v>83.7</c:v>
                </c:pt>
                <c:pt idx="1">
                  <c:v>74.4</c:v>
                </c:pt>
                <c:pt idx="2">
                  <c:v>44.6</c:v>
                </c:pt>
                <c:pt idx="3">
                  <c:v>31.5</c:v>
                </c:pt>
              </c:numCache>
            </c:numRef>
          </c:val>
        </c:ser>
        <c:ser>
          <c:idx val="1"/>
          <c:order val="1"/>
          <c:tx>
            <c:strRef>
              <c:f>Sheet1!$C$1</c:f>
              <c:strCache>
                <c:ptCount val="1"/>
                <c:pt idx="0">
                  <c:v>1.7B fine-tuned</c:v>
                </c:pt>
              </c:strCache>
            </c:strRef>
          </c:tx>
          <c:spPr>
            <a:solidFill>
              <a:srgbClr val="F5B301"/>
            </a:solidFill>
            <a:ln>
              <a:noFill/>
            </a:ln>
          </c:spPr>
          <c:invertIfNegative val="0"/>
          <c:cat>
            <c:strRef>
              <c:f>Sheet1!$A$2:$A$5</c:f>
              <c:strCache>
                <c:ptCount val="4"/>
                <c:pt idx="0">
                  <c:v>supported</c:v>
                </c:pt>
                <c:pt idx="1">
                  <c:v>relevant</c:v>
                </c:pt>
                <c:pt idx="2">
                  <c:v>will reply</c:v>
                </c:pt>
                <c:pt idx="3">
                  <c:v>folder (12-way)</c:v>
                </c:pt>
              </c:strCache>
            </c:strRef>
          </c:cat>
          <c:val>
            <c:numRef>
              <c:f>Sheet1!$C$2:$C$5</c:f>
              <c:numCache>
                <c:formatCode>0.0</c:formatCode>
                <c:ptCount val="4"/>
                <c:pt idx="0">
                  <c:v>96.6</c:v>
                </c:pt>
                <c:pt idx="1">
                  <c:v>90.9</c:v>
                </c:pt>
                <c:pt idx="2">
                  <c:v>60.1</c:v>
                </c:pt>
                <c:pt idx="3">
                  <c:v>52.7</c:v>
                </c:pt>
              </c:numCache>
            </c:numRef>
          </c:val>
        </c:ser>
        <c:ser>
          <c:idx val="2"/>
          <c:order val="2"/>
          <c:tx>
            <c:strRef>
              <c:f>Sheet1!$D$1</c:f>
              <c:strCache>
                <c:ptCount val="1"/>
                <c:pt idx="0">
                  <c:v>14B zero-shot</c:v>
                </c:pt>
              </c:strCache>
            </c:strRef>
          </c:tx>
          <c:spPr>
            <a:solidFill>
              <a:srgbClr val="A0A0A0"/>
            </a:solidFill>
            <a:ln>
              <a:noFill/>
            </a:ln>
          </c:spPr>
          <c:invertIfNegative val="0"/>
          <c:cat>
            <c:strRef>
              <c:f>Sheet1!$A$2:$A$5</c:f>
              <c:strCache>
                <c:ptCount val="4"/>
                <c:pt idx="0">
                  <c:v>supported</c:v>
                </c:pt>
                <c:pt idx="1">
                  <c:v>relevant</c:v>
                </c:pt>
                <c:pt idx="2">
                  <c:v>will reply</c:v>
                </c:pt>
                <c:pt idx="3">
                  <c:v>folder (12-way)</c:v>
                </c:pt>
              </c:strCache>
            </c:strRef>
          </c:cat>
          <c:val>
            <c:numRef>
              <c:f>Sheet1!$D$2:$D$5</c:f>
              <c:numCache>
                <c:formatCode>0.0</c:formatCode>
                <c:ptCount val="4"/>
                <c:pt idx="0">
                  <c:v>95.5</c:v>
                </c:pt>
                <c:pt idx="1">
                  <c:v>87.5</c:v>
                </c:pt>
                <c:pt idx="2">
                  <c:v>55.4</c:v>
                </c:pt>
                <c:pt idx="3">
                  <c:v>47.9</c:v>
                </c:pt>
              </c:numCache>
            </c:numRef>
          </c:val>
        </c:ser>
        <c:dLbls>
          <c:numFmt formatCode="0.0" sourceLinked="0"/>
          <c:txPr>
            <a:bodyPr/>
            <a:lstStyle/>
            <a:p>
              <a:pPr>
                <a:defRPr sz="800" b="0">
                  <a:solidFill>
                    <a:srgbClr val="E6E6E6"/>
                  </a:solidFill>
                  <a:latin typeface="Calibri"/>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none"/>
        <c:minorTickMark val="none"/>
        <c:tickLblPos val="nextTo"/>
        <c:spPr>
          <a:ln>
            <a:solidFill>
              <a:srgbClr val="2C2C2C"/>
            </a:solidFill>
          </a:ln>
        </c:spPr>
        <c:txPr>
          <a:bodyPr/>
          <a:lstStyle/>
          <a:p>
            <a:pPr>
              <a:defRPr sz="1000" b="0">
                <a:solidFill>
                  <a:srgbClr val="E6E6E6"/>
                </a:solidFill>
                <a:latin typeface="Calibri"/>
              </a:defRPr>
            </a:pPr>
          </a:p>
        </c:txPr>
        <c:crossAx val="-2113994440"/>
        <c:crosses val="autoZero"/>
        <c:auto val="1"/>
        <c:lblAlgn val="ctr"/>
        <c:lblOffset val="100"/>
        <c:noMultiLvlLbl val="0"/>
      </c:catAx>
      <c:valAx>
        <c:axId val="-2113994440"/>
        <c:scaling>
          <c:max val="110.0"/>
          <c:min val="0.0"/>
        </c:scaling>
        <c:delete/>
        <c:axPos val="l"/>
        <c:majorTickMark val="out"/>
        <c:minorTickMark val="none"/>
        <c:tickLblPos val="nextTo"/>
        <c:crossAx val="-2068027336"/>
        <c:crosses val="autoZero"/>
      </c:valAx>
      <c:spPr>
        <a:noFill/>
        <a:ln>
          <a:noFill/>
        </a:ln>
      </c:spPr>
    </c:plotArea>
    <c:legend>
      <c:legendPos val="t"/>
      <c:overlay val="0"/>
      <c:txPr>
        <a:bodyPr/>
        <a:lstStyle/>
        <a:p>
          <a:pPr>
            <a:defRPr sz="1000" b="0">
              <a:solidFill>
                <a:srgbClr val="E6E6E6"/>
              </a:solidFill>
              <a:latin typeface="Calibri"/>
            </a:defRPr>
          </a:pPr>
        </a:p>
      </c:txPr>
    </c:legend>
    <c:dispBlanksAs val="gap"/>
  </c:chart>
  <c:spPr>
    <a:noFill/>
    <a:ln>
      <a:noFill/>
    </a:ln>
  </c:spPr>
  <c:txPr>
    <a:bodyPr/>
    <a:lstStyle/>
    <a:p>
      <a:pPr>
        <a:defRPr sz="1000">
          <a:solidFill>
            <a:srgbClr val="A0A0A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Latency (ms)</c:v>
                </c:pt>
              </c:strCache>
            </c:strRef>
          </c:tx>
          <c:spPr>
            <a:solidFill>
              <a:srgbClr val="5A5A5A"/>
            </a:solidFill>
          </c:spPr>
          <c:invertIfNegative val="0"/>
          <c:dPt>
            <c:idx val="0"/>
            <c:spPr>
              <a:solidFill>
                <a:srgbClr val="5A5A5A"/>
              </a:solidFill>
              <a:ln>
                <a:noFill/>
              </a:ln>
            </c:spPr>
          </c:dPt>
          <c:dPt>
            <c:idx val="1"/>
            <c:spPr>
              <a:solidFill>
                <a:srgbClr val="5A5A5A"/>
              </a:solidFill>
              <a:ln>
                <a:noFill/>
              </a:ln>
            </c:spPr>
          </c:dPt>
          <c:dPt>
            <c:idx val="2"/>
            <c:spPr>
              <a:solidFill>
                <a:srgbClr val="5A5A5A"/>
              </a:solidFill>
              <a:ln>
                <a:noFill/>
              </a:ln>
            </c:spPr>
          </c:dPt>
          <c:dPt>
            <c:idx val="3"/>
            <c:spPr>
              <a:solidFill>
                <a:srgbClr val="F5B301"/>
              </a:solidFill>
              <a:ln>
                <a:noFill/>
              </a:ln>
            </c:spPr>
          </c:dPt>
          <c:dPt>
            <c:idx val="4"/>
            <c:spPr>
              <a:solidFill>
                <a:srgbClr val="5A5A5A"/>
              </a:solidFill>
              <a:ln>
                <a:noFill/>
              </a:ln>
            </c:spPr>
          </c:dPt>
          <c:dPt>
            <c:idx val="5"/>
            <c:spPr>
              <a:solidFill>
                <a:srgbClr val="A0A0A0"/>
              </a:solidFill>
              <a:ln>
                <a:noFill/>
              </a:ln>
            </c:spPr>
          </c:dPt>
          <c:dPt>
            <c:idx val="6"/>
            <c:spPr>
              <a:solidFill>
                <a:srgbClr val="A0A0A0"/>
              </a:solidFill>
              <a:ln>
                <a:noFill/>
              </a:ln>
            </c:spPr>
          </c:dPt>
          <c:dLbls>
            <c:dLbl>
              <c:idx val="0"/>
              <c:tx>
                <c:rich>
                  <a:bodyPr/>
                  <a:lstStyle/>
                  <a:p>
                    <a:r>
                      <a:rPr sz="1000" b="1">
                        <a:solidFill>
                          <a:srgbClr val="FFFFFF"/>
                        </a:solidFill>
                        <a:latin typeface="Calibri"/>
                      </a:rPr>
                      <a:t>1.9 ms</a:t>
                    </a:r>
                  </a:p>
                </c:rich>
              </c:tx>
              <c:dLblPos val="outEnd"/>
              <c:showLegendKey val="0"/>
              <c:showVal val="1"/>
              <c:showCatName val="0"/>
              <c:showSerName val="0"/>
              <c:showPercent val="0"/>
              <c:showBubbleSize val="0"/>
            </c:dLbl>
            <c:dLbl>
              <c:idx val="1"/>
              <c:tx>
                <c:rich>
                  <a:bodyPr/>
                  <a:lstStyle/>
                  <a:p>
                    <a:r>
                      <a:rPr sz="1000" b="1">
                        <a:solidFill>
                          <a:srgbClr val="FFFFFF"/>
                        </a:solidFill>
                        <a:latin typeface="Calibri"/>
                      </a:rPr>
                      <a:t>13 ms</a:t>
                    </a:r>
                  </a:p>
                </c:rich>
              </c:tx>
              <c:dLblPos val="outEnd"/>
              <c:showLegendKey val="0"/>
              <c:showVal val="1"/>
              <c:showCatName val="0"/>
              <c:showSerName val="0"/>
              <c:showPercent val="0"/>
              <c:showBubbleSize val="0"/>
            </c:dLbl>
            <c:dLbl>
              <c:idx val="2"/>
              <c:tx>
                <c:rich>
                  <a:bodyPr/>
                  <a:lstStyle/>
                  <a:p>
                    <a:r>
                      <a:rPr sz="1000" b="1">
                        <a:solidFill>
                          <a:srgbClr val="FFFFFF"/>
                        </a:solidFill>
                        <a:latin typeface="Calibri"/>
                      </a:rPr>
                      <a:t>28 ms</a:t>
                    </a:r>
                  </a:p>
                </c:rich>
              </c:tx>
              <c:dLblPos val="outEnd"/>
              <c:showLegendKey val="0"/>
              <c:showVal val="1"/>
              <c:showCatName val="0"/>
              <c:showSerName val="0"/>
              <c:showPercent val="0"/>
              <c:showBubbleSize val="0"/>
            </c:dLbl>
            <c:dLbl>
              <c:idx val="3"/>
              <c:tx>
                <c:rich>
                  <a:bodyPr/>
                  <a:lstStyle/>
                  <a:p>
                    <a:r>
                      <a:rPr sz="1000" b="1">
                        <a:solidFill>
                          <a:srgbClr val="F5B301"/>
                        </a:solidFill>
                        <a:latin typeface="Calibri"/>
                      </a:rPr>
                      <a:t>214 ms</a:t>
                    </a:r>
                  </a:p>
                </c:rich>
              </c:tx>
              <c:dLblPos val="outEnd"/>
              <c:showLegendKey val="0"/>
              <c:showVal val="1"/>
              <c:showCatName val="0"/>
              <c:showSerName val="0"/>
              <c:showPercent val="0"/>
              <c:showBubbleSize val="0"/>
            </c:dLbl>
            <c:dLbl>
              <c:idx val="4"/>
              <c:tx>
                <c:rich>
                  <a:bodyPr/>
                  <a:lstStyle/>
                  <a:p>
                    <a:r>
                      <a:rPr sz="1000" b="1">
                        <a:solidFill>
                          <a:srgbClr val="FFFFFF"/>
                        </a:solidFill>
                        <a:latin typeface="Calibri"/>
                      </a:rPr>
                      <a:t>~0.5 s</a:t>
                    </a:r>
                  </a:p>
                </c:rich>
              </c:tx>
              <c:dLblPos val="outEnd"/>
              <c:showLegendKey val="0"/>
              <c:showVal val="1"/>
              <c:showCatName val="0"/>
              <c:showSerName val="0"/>
              <c:showPercent val="0"/>
              <c:showBubbleSize val="0"/>
            </c:dLbl>
            <c:dLbl>
              <c:idx val="5"/>
              <c:tx>
                <c:rich>
                  <a:bodyPr/>
                  <a:lstStyle/>
                  <a:p>
                    <a:r>
                      <a:rPr sz="1000" b="1">
                        <a:solidFill>
                          <a:srgbClr val="FFFFFF"/>
                        </a:solidFill>
                        <a:latin typeface="Calibri"/>
                      </a:rPr>
                      <a:t>1.7 s</a:t>
                    </a:r>
                  </a:p>
                </c:rich>
              </c:tx>
              <c:dLblPos val="outEnd"/>
              <c:showLegendKey val="0"/>
              <c:showVal val="1"/>
              <c:showCatName val="0"/>
              <c:showSerName val="0"/>
              <c:showPercent val="0"/>
              <c:showBubbleSize val="0"/>
            </c:dLbl>
            <c:dLbl>
              <c:idx val="6"/>
              <c:tx>
                <c:rich>
                  <a:bodyPr/>
                  <a:lstStyle/>
                  <a:p>
                    <a:r>
                      <a:rPr sz="1000" b="1">
                        <a:solidFill>
                          <a:srgbClr val="FFFFFF"/>
                        </a:solidFill>
                        <a:latin typeface="Calibri"/>
                      </a:rPr>
                      <a:t>11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Keyword search</c:v>
                </c:pt>
                <c:pt idx="1">
                  <c:v>Searchable after add</c:v>
                </c:pt>
                <c:pt idx="2">
                  <c:v>Hybrid search</c:v>
                </c:pt>
                <c:pt idx="3">
                  <c:v>S1 judge, per email</c:v>
                </c:pt>
                <c:pt idx="4">
                  <c:v>Whisper, 2.5 s clip</c:v>
                </c:pt>
                <c:pt idx="5">
                  <c:v>Answer, draft mode</c:v>
                </c:pt>
                <c:pt idx="6">
                  <c:v>Answer, median</c:v>
                </c:pt>
              </c:strCache>
            </c:strRef>
          </c:cat>
          <c:val>
            <c:numRef>
              <c:f>Sheet1!$B$2:$B$8</c:f>
              <c:numCache>
                <c:formatCode>General</c:formatCode>
                <c:ptCount val="7"/>
                <c:pt idx="0">
                  <c:v>1.9</c:v>
                </c:pt>
                <c:pt idx="1">
                  <c:v>13</c:v>
                </c:pt>
                <c:pt idx="2">
                  <c:v>28</c:v>
                </c:pt>
                <c:pt idx="3">
                  <c:v>214</c:v>
                </c:pt>
                <c:pt idx="4">
                  <c:v>500</c:v>
                </c:pt>
                <c:pt idx="5">
                  <c:v>1700</c:v>
                </c:pt>
                <c:pt idx="6">
                  <c:v>11000</c:v>
                </c:pt>
              </c:numCache>
            </c:numRef>
          </c:val>
        </c:ser>
        <c:gapWidth val="55"/>
        <c:axId val="-2068027336"/>
        <c:axId val="-2113994440"/>
      </c:barChart>
      <c:catAx>
        <c:axId val="-2068027336"/>
        <c:scaling>
          <c:orientation val="maxMin"/>
        </c:scaling>
        <c:delete val="0"/>
        <c:axPos val="l"/>
        <c:majorTickMark val="none"/>
        <c:minorTickMark val="none"/>
        <c:tickLblPos val="nextTo"/>
        <c:spPr>
          <a:ln>
            <a:solidFill>
              <a:srgbClr val="2C2C2C"/>
            </a:solidFill>
          </a:ln>
        </c:spPr>
        <c:txPr>
          <a:bodyPr/>
          <a:lstStyle/>
          <a:p>
            <a:pPr>
              <a:defRPr sz="1000" b="0">
                <a:solidFill>
                  <a:srgbClr val="E6E6E6"/>
                </a:solidFill>
                <a:latin typeface="Calibri"/>
              </a:defRPr>
            </a:pPr>
          </a:p>
        </c:txPr>
        <c:crossAx val="-2113994440"/>
        <c:crosses val="autoZero"/>
        <c:auto val="1"/>
        <c:lblAlgn val="ctr"/>
        <c:lblOffset val="100"/>
        <c:noMultiLvlLbl val="0"/>
      </c:catAx>
      <c:valAx>
        <c:axId val="-2113994440"/>
        <c:scaling>
          <c:logBase val="10"/>
          <c:max val="100000.0"/>
          <c:min val="1.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00">
          <a:solidFill>
            <a:srgbClr val="A0A0A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Omnitrix is a local AI secretary: it reads your email, meetings and notes, remembers what was promised and decided, plans your day, and acts only with your OK. Its brain, engram, runs entirely on one laptop. The screenshot is the real login screen: each brain is its own Postgres database, opened with its own passphrase.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data overload plus unreliable AI memory. First, context is fragmented: the decisions that matter are buried across scattered emails, calendar invites and messy notes. Second, today's memory frameworks break: an audit of 10,134 Mem0 memories found 97.8% junk, and Graphiti's small-model judge silently invalidated 41% of about 3,950 facts, with 3 of 4 audited cases wrong. Third, privacy: even careful local + cloud delegation leaks private data on 7.5% of queries (PAPILLON).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answer is a personal AI that learns how you judge, runs locally with zero cloud calls, and uses a 1.7B model fine-tuned on you. It is a society of models: code first, a fast small judge, a slow large model, and you, escalating only when unsure. Of the 55 judgements a brain needs, 10 are pure code, 42 go to the small judge first, and only 1 needs the large model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inside one laptop: sources flow into engram, which thinks in four tiers (code, a small judge, a large model, you) and writes every judgement to one hash-chained ledger that is also its audit log, cache and training data. Memory, search (BM25 + pgvector HNSW, 1.9 ms keyword, 28 ms hybrid) and the ledger are plain Postgres tables, with a read-only SQL console and one MCP server with 9 typed tools. We merged 22 planned agents into 7 roles on one pipeline because sequential multi-agent setups lose 39–70% and amplify errors up to 17.2× (Kim et al.), 44.2% of multi-agent failures come from system design (MAST), persona prompts don't improve accuracy across 162 roles, and LLMs manage 33–48% on calendar planning while a solver-checked plan reaches 93.9%.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fine-tune Qwen3-1.7B with LoRA in 54 minutes on the laptop (MLX, 18 GB peak), using 5,958 labels the brain already had: the owner's own replies and filing plus EnronQA answers, with no hand labelling and no cloud teacher. The tuned 1.7B beats its base and the 14B zero-shot on all four held-out decisions and is 3–5× faster than the 14B; fused and 4-bit it is 934 MB at 214 ms per email, and it settles 82.6% of 'supported?' on its own at 99.3% accuracy. On the right, Herald: a Kotlin app on a Galaxy Watch 5 long-polls the Mac over direct Wi-Fi, found by mDNS with an HMAC challenge, and a real sandbox email reply was approved on the wrist and ledgered 19 s after the gate paused.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tile is a measured result: the memory gate cut 807 s to 255 s on 60 emails and 151 beliefs to 36; answering dropped from a 21 s to an 11 s median; and the action gate cut harmful side effects from 40.0% to 6.7% while tasks done right rose from 38.3% to 48.3%, with 0.62 owner prompts per task against 0.97 for approve-everything. The market figures are top-down: TAM uses Gartner's 1.14B knowledge workers and Microsoft's 75% AI use; SAM counts India's regulated professionals and DPIIT startups (one founder per startup) with Microsoft's 92% India AI use; SOM is our own 1% three-year assumption, priced at the ChatGPT Plus India benchmark. TODO: filter SAM by laptops able to run local models; we found no citable figure.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is one 24 GB laptop: the fused 4-bit judge is 934 MB and training took 54 minutes at an 18 GB peak. Latency is on a log scale: keyword search 1.9 ms, hybrid 28 ms, an item is searchable 13 ms after it arrives, the judge takes 214 ms per email, Whisper about 0.5 s for a 2.5 s clip, and answers 11 s median or 1.7 s in draft mode. On privacy, India's DPDP Rules 2025 bring 1-year access logs, 72-hour breach reports and penalties up to ₹250 crore from about May 2027, and vendor kill-switches are real (Rewind's local capture disabled Dec 2025, Mem0's local server sunset Jul 2026). Honest limits: 'will they reply?' is only 60.1% so it stays a suggestion; the watch speaks plain HTTP on the LAN and drops Wi-Fi when it sleeps with Bluetooth on; v2 lost ground on round-1 decisions so those stay on v1; and 'zero cloud calls' comes from the architecture, not a network capture.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references are the ones behind each claim in the deck; the market sources back the TAM, SAM and SOM on slide 6. The ₹1,999 price is a benchmark from August 2025 and may have changed; the Gartner figure is a 2019 forecast for 2023, so the TAM is indicative.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Omnitrix keeps your brain on your machine: it remembers, plans and acts, and only with your OK. The code is at github.com/tharanirmal/omnitrix. Thank you; we're happy to take questions or show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svg_1_layers_amber.svg"/><Relationship Id="rId5" Type="http://schemas.openxmlformats.org/officeDocument/2006/relationships/image" Target="../media/image8.png"/><Relationship Id="rId6" Type="http://schemas.openxmlformats.org/officeDocument/2006/relationships/image" Target="../media/svg_2_trash_amber.svg"/><Relationship Id="rId7" Type="http://schemas.openxmlformats.org/officeDocument/2006/relationships/image" Target="../media/image9.png"/><Relationship Id="rId8" Type="http://schemas.openxmlformats.org/officeDocument/2006/relationships/image" Target="../media/svg_3_cloudup_amber.svg"/><Relationship Id="rId9" Type="http://schemas.openxmlformats.org/officeDocument/2006/relationships/image" Target="../media/image10.png"/><Relationship Id="rId10" Type="http://schemas.openxmlformats.org/officeDocument/2006/relationships/image" Target="../media/svg_4_mail_grey.svg"/><Relationship Id="rId11" Type="http://schemas.openxmlformats.org/officeDocument/2006/relationships/image" Target="../media/image11.png"/><Relationship Id="rId12" Type="http://schemas.openxmlformats.org/officeDocument/2006/relationships/image" Target="../media/svg_5_calendar_grey.svg"/><Relationship Id="rId13" Type="http://schemas.openxmlformats.org/officeDocument/2006/relationships/image" Target="../media/image12.png"/><Relationship Id="rId14" Type="http://schemas.openxmlformats.org/officeDocument/2006/relationships/image" Target="../media/svg_6_notes_grey.svg"/><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svg_7_user_amber.svg"/><Relationship Id="rId5" Type="http://schemas.openxmlformats.org/officeDocument/2006/relationships/image" Target="../media/image14.png"/><Relationship Id="rId6" Type="http://schemas.openxmlformats.org/officeDocument/2006/relationships/image" Target="../media/svg_8_laptop_amber.svg"/><Relationship Id="rId7" Type="http://schemas.openxmlformats.org/officeDocument/2006/relationships/image" Target="../media/image15.png"/><Relationship Id="rId8" Type="http://schemas.openxmlformats.org/officeDocument/2006/relationships/image" Target="../media/svg_9_sliders_amber.svg"/><Relationship Id="rId9" Type="http://schemas.openxmlformats.org/officeDocument/2006/relationships/image" Target="../media/image16.png"/><Relationship Id="rId10" Type="http://schemas.openxmlformats.org/officeDocument/2006/relationships/image" Target="../media/svg_10_users_amber.svg"/><Relationship Id="rId11" Type="http://schemas.openxmlformats.org/officeDocument/2006/relationships/image" Target="../media/image17.png"/><Relationship Id="rId12" Type="http://schemas.openxmlformats.org/officeDocument/2006/relationships/image" Target="../media/svg_11_brain_amber.svg"/><Relationship Id="rId13" Type="http://schemas.openxmlformats.org/officeDocument/2006/relationships/image" Target="../media/image18.png"/><Relationship Id="rId14" Type="http://schemas.openxmlformats.org/officeDocument/2006/relationships/image" Target="../media/svg_12_ladder.svg"/><Relationship Id="rId15" Type="http://schemas.openxmlformats.org/officeDocument/2006/relationships/image" Target="../media/image19.png"/><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 Id="rId4" Type="http://schemas.openxmlformats.org/officeDocument/2006/relationships/image" Target="../media/svg_13_architecture.sv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svg_14_finetune_loop.svg"/><Relationship Id="rId6" Type="http://schemas.openxmlformats.org/officeDocument/2006/relationships/chart" Target="../charts/chart1.xml"/><Relationship Id="rId7" Type="http://schemas.openxmlformats.org/officeDocument/2006/relationships/image" Target="../media/image22.png"/><Relationship Id="rId8" Type="http://schemas.openxmlformats.org/officeDocument/2006/relationships/image" Target="../media/svg_15_watch_flow.sv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svg_16_lock_amber.svg"/><Relationship Id="rId6" Type="http://schemas.openxmlformats.org/officeDocument/2006/relationships/image" Target="../media/image24.png"/><Relationship Id="rId7" Type="http://schemas.openxmlformats.org/officeDocument/2006/relationships/image" Target="../media/svg_17_finger_amber.svg"/><Relationship Id="rId8" Type="http://schemas.openxmlformats.org/officeDocument/2006/relationships/image" Target="../media/image7.png"/><Relationship Id="rId9" Type="http://schemas.openxmlformats.org/officeDocument/2006/relationships/image" Target="../media/svg_1_layers_amber.svg"/><Relationship Id="rId10" Type="http://schemas.openxmlformats.org/officeDocument/2006/relationships/image" Target="../media/image25.png"/><Relationship Id="rId11" Type="http://schemas.openxmlformats.org/officeDocument/2006/relationships/image" Target="../media/svg_18_clock_amber.svg"/><Relationship Id="rId12" Type="http://schemas.openxmlformats.org/officeDocument/2006/relationships/image" Target="../media/image26.png"/><Relationship Id="rId13" Type="http://schemas.openxmlformats.org/officeDocument/2006/relationships/image" Target="../media/svg_19_zap_amber.svg"/><Relationship Id="rId14" Type="http://schemas.openxmlformats.org/officeDocument/2006/relationships/image" Target="../media/image27.png"/><Relationship Id="rId15" Type="http://schemas.openxmlformats.org/officeDocument/2006/relationships/image" Target="../media/svg_20_target_amber.svg"/><Relationship Id="rId16" Type="http://schemas.openxmlformats.org/officeDocument/2006/relationships/image" Target="../media/image28.png"/><Relationship Id="rId17" Type="http://schemas.openxmlformats.org/officeDocument/2006/relationships/image" Target="../media/svg_21_tam_sam_som.svg"/><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svg_22_cpu_amber.svg"/><Relationship Id="rId5" Type="http://schemas.openxmlformats.org/officeDocument/2006/relationships/image" Target="../media/image30.png"/><Relationship Id="rId6" Type="http://schemas.openxmlformats.org/officeDocument/2006/relationships/image" Target="../media/svg_23_gauge_amber.svg"/><Relationship Id="rId7" Type="http://schemas.openxmlformats.org/officeDocument/2006/relationships/chart" Target="../charts/chart2.xml"/><Relationship Id="rId8" Type="http://schemas.openxmlformats.org/officeDocument/2006/relationships/image" Target="../media/image31.png"/><Relationship Id="rId9" Type="http://schemas.openxmlformats.org/officeDocument/2006/relationships/image" Target="../media/svg_24_shield_amber.svg"/><Relationship Id="rId10" Type="http://schemas.openxmlformats.org/officeDocument/2006/relationships/image" Target="../media/image32.png"/><Relationship Id="rId11" Type="http://schemas.openxmlformats.org/officeDocument/2006/relationships/image" Target="../media/svg_25_cloudoff_grey.svg"/><Relationship Id="rId12" Type="http://schemas.openxmlformats.org/officeDocument/2006/relationships/image" Target="../media/image33.png"/><Relationship Id="rId13" Type="http://schemas.openxmlformats.org/officeDocument/2006/relationships/image" Target="../media/svg_26_layers_grey.svg"/><Relationship Id="rId14" Type="http://schemas.openxmlformats.org/officeDocument/2006/relationships/image" Target="../media/image34.png"/><Relationship Id="rId15" Type="http://schemas.openxmlformats.org/officeDocument/2006/relationships/image" Target="../media/svg_27_book_grey.svg"/><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svg_10_users_amber.svg"/><Relationship Id="rId6"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5.png"/><Relationship Id="rId4" Type="http://schemas.openxmlformats.org/officeDocument/2006/relationships/image" Target="../media/svg_28_book_amber.svg"/><Relationship Id="rId5" Type="http://schemas.openxmlformats.org/officeDocument/2006/relationships/image" Target="../media/image36.png"/><Relationship Id="rId6" Type="http://schemas.openxmlformats.org/officeDocument/2006/relationships/image" Target="../media/svg_29_db_amber.svg"/><Relationship Id="rId7"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A.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2651760" y="2011680"/>
            <a:ext cx="4389120" cy="1005840"/>
          </a:xfrm>
          <a:prstGeom prst="rect">
            <a:avLst/>
          </a:prstGeom>
          <a:noFill/>
        </p:spPr>
        <p:txBody>
          <a:bodyPr wrap="square" lIns="0" rIns="0" tIns="0" bIns="0" anchor="ctr">
            <a:spAutoFit/>
          </a:bodyPr>
          <a:lstStyle/>
          <a:p>
            <a:pPr algn="l"/>
            <a:r>
              <a:rPr sz="6600" b="0" i="0">
                <a:solidFill>
                  <a:srgbClr val="A0A0A0"/>
                </a:solidFill>
                <a:latin typeface="Calibri"/>
              </a:rPr>
              <a:t>Omni</a:t>
            </a:r>
            <a:r>
              <a:rPr sz="6600" b="0" i="0">
                <a:solidFill>
                  <a:srgbClr val="FFFFFF"/>
                </a:solidFill>
                <a:latin typeface="Calibri"/>
              </a:rPr>
              <a:t>trix</a:t>
            </a:r>
          </a:p>
        </p:txBody>
      </p:sp>
      <p:sp>
        <p:nvSpPr>
          <p:cNvPr id="4" name="Tagline"/>
          <p:cNvSpPr txBox="1"/>
          <p:nvPr/>
        </p:nvSpPr>
        <p:spPr>
          <a:xfrm>
            <a:off x="2651760" y="3108960"/>
            <a:ext cx="4297680" cy="685800"/>
          </a:xfrm>
          <a:prstGeom prst="rect">
            <a:avLst/>
          </a:prstGeom>
          <a:noFill/>
        </p:spPr>
        <p:txBody>
          <a:bodyPr wrap="square" lIns="0" rIns="0" tIns="0" bIns="0" anchor="t">
            <a:spAutoFit/>
          </a:bodyPr>
          <a:lstStyle/>
          <a:p>
            <a:pPr algn="l"/>
            <a:r>
              <a:rPr sz="1800" b="0" i="0">
                <a:solidFill>
                  <a:srgbClr val="E6E6E6"/>
                </a:solidFill>
                <a:latin typeface="Calibri"/>
              </a:rPr>
              <a:t>A local AI secretary that remembers, plans and acts, only with your OK.</a:t>
            </a:r>
          </a:p>
        </p:txBody>
      </p:sp>
      <p:sp>
        <p:nvSpPr>
          <p:cNvPr id="5" name="Rounded Rectangle 4"/>
          <p:cNvSpPr/>
          <p:nvPr/>
        </p:nvSpPr>
        <p:spPr>
          <a:xfrm>
            <a:off x="2651760" y="4160520"/>
            <a:ext cx="1325880" cy="374904"/>
          </a:xfrm>
          <a:prstGeom prst="roundRect">
            <a:avLst>
              <a:gd name="adj" fmla="val 50000"/>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51760" y="4160520"/>
            <a:ext cx="1325880" cy="374904"/>
          </a:xfrm>
          <a:prstGeom prst="rect">
            <a:avLst/>
          </a:prstGeom>
          <a:noFill/>
        </p:spPr>
        <p:txBody>
          <a:bodyPr wrap="square" lIns="0" rIns="0" tIns="0" bIns="0" anchor="ctr">
            <a:spAutoFit/>
          </a:bodyPr>
          <a:lstStyle/>
          <a:p>
            <a:pPr algn="ctr"/>
            <a:r>
              <a:rPr sz="1100" b="1" i="0">
                <a:solidFill>
                  <a:srgbClr val="E6E6E6"/>
                </a:solidFill>
                <a:latin typeface="Calibri"/>
              </a:rPr>
              <a:t>Brain: engram</a:t>
            </a:r>
          </a:p>
        </p:txBody>
      </p:sp>
      <p:sp>
        <p:nvSpPr>
          <p:cNvPr id="7" name="Rounded Rectangle 6"/>
          <p:cNvSpPr/>
          <p:nvPr/>
        </p:nvSpPr>
        <p:spPr>
          <a:xfrm>
            <a:off x="4087368" y="4160520"/>
            <a:ext cx="1737360" cy="374904"/>
          </a:xfrm>
          <a:prstGeom prst="roundRect">
            <a:avLst>
              <a:gd name="adj" fmla="val 50000"/>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87368" y="4160520"/>
            <a:ext cx="1737360" cy="374904"/>
          </a:xfrm>
          <a:prstGeom prst="rect">
            <a:avLst/>
          </a:prstGeom>
          <a:noFill/>
        </p:spPr>
        <p:txBody>
          <a:bodyPr wrap="square" lIns="0" rIns="0" tIns="0" bIns="0" anchor="ctr">
            <a:spAutoFit/>
          </a:bodyPr>
          <a:lstStyle/>
          <a:p>
            <a:pPr algn="ctr"/>
            <a:r>
              <a:rPr sz="1100" b="1" i="0">
                <a:solidFill>
                  <a:srgbClr val="E6E6E6"/>
                </a:solidFill>
                <a:latin typeface="Calibri"/>
              </a:rPr>
              <a:t>Track 1 Sovereign AI</a:t>
            </a:r>
          </a:p>
        </p:txBody>
      </p:sp>
      <p:sp>
        <p:nvSpPr>
          <p:cNvPr id="9" name="Rounded Rectangle 8"/>
          <p:cNvSpPr/>
          <p:nvPr/>
        </p:nvSpPr>
        <p:spPr>
          <a:xfrm>
            <a:off x="5934456" y="4160520"/>
            <a:ext cx="1417320" cy="374904"/>
          </a:xfrm>
          <a:prstGeom prst="roundRect">
            <a:avLst>
              <a:gd name="adj" fmla="val 50000"/>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34456" y="4160520"/>
            <a:ext cx="1417320" cy="374904"/>
          </a:xfrm>
          <a:prstGeom prst="rect">
            <a:avLst/>
          </a:prstGeom>
          <a:noFill/>
        </p:spPr>
        <p:txBody>
          <a:bodyPr wrap="square" lIns="0" rIns="0" tIns="0" bIns="0" anchor="ctr">
            <a:spAutoFit/>
          </a:bodyPr>
          <a:lstStyle/>
          <a:p>
            <a:pPr algn="ctr"/>
            <a:r>
              <a:rPr sz="1100" b="1" i="0">
                <a:solidFill>
                  <a:srgbClr val="E6E6E6"/>
                </a:solidFill>
                <a:latin typeface="Calibri"/>
              </a:rPr>
              <a:t>MSRIT Hackathon</a:t>
            </a:r>
          </a:p>
        </p:txBody>
      </p:sp>
      <p:sp>
        <p:nvSpPr>
          <p:cNvPr id="11" name="Hero frame"/>
          <p:cNvSpPr/>
          <p:nvPr/>
        </p:nvSpPr>
        <p:spPr>
          <a:xfrm>
            <a:off x="7726680" y="2103120"/>
            <a:ext cx="3913632" cy="2528316"/>
          </a:xfrm>
          <a:prstGeom prst="roundRect">
            <a:avLst>
              <a:gd name="adj" fmla="val 506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Hero: engram login" descr="1280-dark-01-login-grey.png"/>
          <p:cNvPicPr>
            <a:picLocks noChangeAspect="1"/>
          </p:cNvPicPr>
          <p:nvPr/>
        </p:nvPicPr>
        <p:blipFill>
          <a:blip r:embed="rId3"/>
          <a:stretch>
            <a:fillRect/>
          </a:stretch>
        </p:blipFill>
        <p:spPr>
          <a:xfrm>
            <a:off x="7836408" y="2212848"/>
            <a:ext cx="3694176" cy="23088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B.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457200"/>
            <a:ext cx="11091672" cy="1188720"/>
          </a:xfrm>
          <a:prstGeom prst="rect">
            <a:avLst/>
          </a:prstGeom>
          <a:noFill/>
        </p:spPr>
        <p:txBody>
          <a:bodyPr wrap="square" lIns="0" rIns="0" tIns="0" bIns="0" anchor="ctr">
            <a:spAutoFit/>
          </a:bodyPr>
          <a:lstStyle/>
          <a:p>
            <a:pPr algn="ctr"/>
            <a:r>
              <a:rPr sz="3600" b="0" i="0">
                <a:solidFill>
                  <a:srgbClr val="A0A0A0"/>
                </a:solidFill>
                <a:latin typeface="Calibri"/>
              </a:rPr>
              <a:t>The Problem:</a:t>
            </a:r>
          </a:p>
          <a:p>
            <a:pPr algn="ctr"/>
            <a:r>
              <a:rPr sz="3600" b="0" i="0">
                <a:solidFill>
                  <a:srgbClr val="FFFFFF"/>
                </a:solidFill>
                <a:latin typeface="Calibri"/>
              </a:rPr>
              <a:t>Data Overload &amp; Unreliable AI Memory</a:t>
            </a:r>
          </a:p>
        </p:txBody>
      </p:sp>
      <p:sp>
        <p:nvSpPr>
          <p:cNvPr id="4" name="Rounded Rectangle 3"/>
          <p:cNvSpPr/>
          <p:nvPr/>
        </p:nvSpPr>
        <p:spPr>
          <a:xfrm>
            <a:off x="562356" y="1828800"/>
            <a:ext cx="3474720" cy="3657600"/>
          </a:xfrm>
          <a:prstGeom prst="roundRect">
            <a:avLst>
              <a:gd name="adj" fmla="val 315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ayers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6676" y="2103120"/>
            <a:ext cx="347472" cy="347472"/>
          </a:xfrm>
          <a:prstGeom prst="rect">
            <a:avLst/>
          </a:prstGeom>
        </p:spPr>
      </p:pic>
      <p:sp>
        <p:nvSpPr>
          <p:cNvPr id="6" name="TextBox 5"/>
          <p:cNvSpPr txBox="1"/>
          <p:nvPr/>
        </p:nvSpPr>
        <p:spPr>
          <a:xfrm>
            <a:off x="1293876" y="2103120"/>
            <a:ext cx="2560320" cy="347472"/>
          </a:xfrm>
          <a:prstGeom prst="rect">
            <a:avLst/>
          </a:prstGeom>
          <a:noFill/>
        </p:spPr>
        <p:txBody>
          <a:bodyPr wrap="square" lIns="0" rIns="0" tIns="0" bIns="0" anchor="ctr">
            <a:spAutoFit/>
          </a:bodyPr>
          <a:lstStyle/>
          <a:p>
            <a:pPr algn="l"/>
            <a:r>
              <a:rPr sz="1600" b="1" i="0">
                <a:solidFill>
                  <a:srgbClr val="FFFFFF"/>
                </a:solidFill>
                <a:latin typeface="Calibri"/>
              </a:rPr>
              <a:t>Context fragmentation</a:t>
            </a:r>
          </a:p>
        </p:txBody>
      </p:sp>
      <p:sp>
        <p:nvSpPr>
          <p:cNvPr id="7" name="TextBox 6"/>
          <p:cNvSpPr txBox="1"/>
          <p:nvPr/>
        </p:nvSpPr>
        <p:spPr>
          <a:xfrm>
            <a:off x="882396" y="4434840"/>
            <a:ext cx="2834640" cy="822960"/>
          </a:xfrm>
          <a:prstGeom prst="rect">
            <a:avLst/>
          </a:prstGeom>
          <a:noFill/>
        </p:spPr>
        <p:txBody>
          <a:bodyPr wrap="square" lIns="0" rIns="0" tIns="0" bIns="0" anchor="t">
            <a:spAutoFit/>
          </a:bodyPr>
          <a:lstStyle/>
          <a:p>
            <a:pPr algn="ctr"/>
            <a:r>
              <a:rPr sz="1300" b="0" i="0">
                <a:solidFill>
                  <a:srgbClr val="A0A0A0"/>
                </a:solidFill>
                <a:latin typeface="Calibri"/>
              </a:rPr>
              <a:t>Decisions scattered across emails, calendar invites and notes</a:t>
            </a:r>
          </a:p>
        </p:txBody>
      </p:sp>
      <p:sp>
        <p:nvSpPr>
          <p:cNvPr id="8" name="Rounded Rectangle 7"/>
          <p:cNvSpPr/>
          <p:nvPr/>
        </p:nvSpPr>
        <p:spPr>
          <a:xfrm>
            <a:off x="4357116" y="1828800"/>
            <a:ext cx="3474720" cy="3657600"/>
          </a:xfrm>
          <a:prstGeom prst="roundRect">
            <a:avLst>
              <a:gd name="adj" fmla="val 315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rash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31436" y="2103120"/>
            <a:ext cx="347472" cy="347472"/>
          </a:xfrm>
          <a:prstGeom prst="rect">
            <a:avLst/>
          </a:prstGeom>
        </p:spPr>
      </p:pic>
      <p:sp>
        <p:nvSpPr>
          <p:cNvPr id="10" name="TextBox 9"/>
          <p:cNvSpPr txBox="1"/>
          <p:nvPr/>
        </p:nvSpPr>
        <p:spPr>
          <a:xfrm>
            <a:off x="5088636" y="2103120"/>
            <a:ext cx="2560320" cy="347472"/>
          </a:xfrm>
          <a:prstGeom prst="rect">
            <a:avLst/>
          </a:prstGeom>
          <a:noFill/>
        </p:spPr>
        <p:txBody>
          <a:bodyPr wrap="square" lIns="0" rIns="0" tIns="0" bIns="0" anchor="ctr">
            <a:spAutoFit/>
          </a:bodyPr>
          <a:lstStyle/>
          <a:p>
            <a:pPr algn="l"/>
            <a:r>
              <a:rPr sz="1600" b="1" i="0">
                <a:solidFill>
                  <a:srgbClr val="FFFFFF"/>
                </a:solidFill>
                <a:latin typeface="Calibri"/>
              </a:rPr>
              <a:t>Broken AI memory</a:t>
            </a:r>
          </a:p>
        </p:txBody>
      </p:sp>
      <p:sp>
        <p:nvSpPr>
          <p:cNvPr id="11" name="TextBox 10"/>
          <p:cNvSpPr txBox="1"/>
          <p:nvPr/>
        </p:nvSpPr>
        <p:spPr>
          <a:xfrm>
            <a:off x="4677156" y="4434840"/>
            <a:ext cx="2834640" cy="822960"/>
          </a:xfrm>
          <a:prstGeom prst="rect">
            <a:avLst/>
          </a:prstGeom>
          <a:noFill/>
        </p:spPr>
        <p:txBody>
          <a:bodyPr wrap="square" lIns="0" rIns="0" tIns="0" bIns="0" anchor="t">
            <a:spAutoFit/>
          </a:bodyPr>
          <a:lstStyle/>
          <a:p>
            <a:pPr algn="ctr"/>
            <a:r>
              <a:rPr sz="1300" b="0" i="0">
                <a:solidFill>
                  <a:srgbClr val="A0A0A0"/>
                </a:solidFill>
                <a:latin typeface="Calibri"/>
              </a:rPr>
              <a:t>3 of 4 audited invalidations were wrong</a:t>
            </a:r>
          </a:p>
        </p:txBody>
      </p:sp>
      <p:sp>
        <p:nvSpPr>
          <p:cNvPr id="12" name="Rounded Rectangle 11"/>
          <p:cNvSpPr/>
          <p:nvPr/>
        </p:nvSpPr>
        <p:spPr>
          <a:xfrm>
            <a:off x="8151876" y="1828800"/>
            <a:ext cx="3474720" cy="3657600"/>
          </a:xfrm>
          <a:prstGeom prst="roundRect">
            <a:avLst>
              <a:gd name="adj" fmla="val 315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loudup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26196" y="2103120"/>
            <a:ext cx="347472" cy="347472"/>
          </a:xfrm>
          <a:prstGeom prst="rect">
            <a:avLst/>
          </a:prstGeom>
        </p:spPr>
      </p:pic>
      <p:sp>
        <p:nvSpPr>
          <p:cNvPr id="14" name="TextBox 13"/>
          <p:cNvSpPr txBox="1"/>
          <p:nvPr/>
        </p:nvSpPr>
        <p:spPr>
          <a:xfrm>
            <a:off x="8883396" y="2103120"/>
            <a:ext cx="2560320" cy="347472"/>
          </a:xfrm>
          <a:prstGeom prst="rect">
            <a:avLst/>
          </a:prstGeom>
          <a:noFill/>
        </p:spPr>
        <p:txBody>
          <a:bodyPr wrap="square" lIns="0" rIns="0" tIns="0" bIns="0" anchor="ctr">
            <a:spAutoFit/>
          </a:bodyPr>
          <a:lstStyle/>
          <a:p>
            <a:pPr algn="l"/>
            <a:r>
              <a:rPr sz="1600" b="1" i="0">
                <a:solidFill>
                  <a:srgbClr val="FFFFFF"/>
                </a:solidFill>
                <a:latin typeface="Calibri"/>
              </a:rPr>
              <a:t>Privacy leaks</a:t>
            </a:r>
          </a:p>
        </p:txBody>
      </p:sp>
      <p:sp>
        <p:nvSpPr>
          <p:cNvPr id="15" name="TextBox 14"/>
          <p:cNvSpPr txBox="1"/>
          <p:nvPr/>
        </p:nvSpPr>
        <p:spPr>
          <a:xfrm>
            <a:off x="8471916" y="4434840"/>
            <a:ext cx="2834640" cy="822960"/>
          </a:xfrm>
          <a:prstGeom prst="rect">
            <a:avLst/>
          </a:prstGeom>
          <a:noFill/>
        </p:spPr>
        <p:txBody>
          <a:bodyPr wrap="square" lIns="0" rIns="0" tIns="0" bIns="0" anchor="t">
            <a:spAutoFit/>
          </a:bodyPr>
          <a:lstStyle/>
          <a:p>
            <a:pPr algn="ctr"/>
            <a:r>
              <a:rPr sz="1300" b="0" i="0">
                <a:solidFill>
                  <a:srgbClr val="A0A0A0"/>
                </a:solidFill>
                <a:latin typeface="Calibri"/>
              </a:rPr>
              <a:t>of queries leak private data in local + cloud delegation (PAPILLON)</a:t>
            </a:r>
          </a:p>
        </p:txBody>
      </p:sp>
      <p:pic>
        <p:nvPicPr>
          <p:cNvPr id="16" name="Picture 15" descr="mail ico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1268" y="2880360"/>
            <a:ext cx="585216" cy="585216"/>
          </a:xfrm>
          <a:prstGeom prst="rect">
            <a:avLst/>
          </a:prstGeom>
        </p:spPr>
      </p:pic>
      <p:sp>
        <p:nvSpPr>
          <p:cNvPr id="17" name="TextBox 16"/>
          <p:cNvSpPr txBox="1"/>
          <p:nvPr/>
        </p:nvSpPr>
        <p:spPr>
          <a:xfrm>
            <a:off x="790956" y="3566160"/>
            <a:ext cx="1005840" cy="274320"/>
          </a:xfrm>
          <a:prstGeom prst="rect">
            <a:avLst/>
          </a:prstGeom>
          <a:noFill/>
        </p:spPr>
        <p:txBody>
          <a:bodyPr wrap="square" lIns="0" rIns="0" tIns="0" bIns="0" anchor="ctr">
            <a:spAutoFit/>
          </a:bodyPr>
          <a:lstStyle/>
          <a:p>
            <a:pPr algn="ctr"/>
            <a:r>
              <a:rPr sz="1200" b="0" i="0">
                <a:solidFill>
                  <a:srgbClr val="E6E6E6"/>
                </a:solidFill>
                <a:latin typeface="Calibri"/>
              </a:rPr>
              <a:t>Emails</a:t>
            </a:r>
          </a:p>
        </p:txBody>
      </p:sp>
      <p:pic>
        <p:nvPicPr>
          <p:cNvPr id="18" name="Picture 17" descr="calendar icon"/>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07108" y="2880360"/>
            <a:ext cx="585216" cy="585216"/>
          </a:xfrm>
          <a:prstGeom prst="rect">
            <a:avLst/>
          </a:prstGeom>
        </p:spPr>
      </p:pic>
      <p:sp>
        <p:nvSpPr>
          <p:cNvPr id="19" name="TextBox 18"/>
          <p:cNvSpPr txBox="1"/>
          <p:nvPr/>
        </p:nvSpPr>
        <p:spPr>
          <a:xfrm>
            <a:off x="1796796" y="3566160"/>
            <a:ext cx="1005840" cy="274320"/>
          </a:xfrm>
          <a:prstGeom prst="rect">
            <a:avLst/>
          </a:prstGeom>
          <a:noFill/>
        </p:spPr>
        <p:txBody>
          <a:bodyPr wrap="square" lIns="0" rIns="0" tIns="0" bIns="0" anchor="ctr">
            <a:spAutoFit/>
          </a:bodyPr>
          <a:lstStyle/>
          <a:p>
            <a:pPr algn="ctr"/>
            <a:r>
              <a:rPr sz="1200" b="0" i="0">
                <a:solidFill>
                  <a:srgbClr val="E6E6E6"/>
                </a:solidFill>
                <a:latin typeface="Calibri"/>
              </a:rPr>
              <a:t>Invites</a:t>
            </a:r>
          </a:p>
        </p:txBody>
      </p:sp>
      <p:pic>
        <p:nvPicPr>
          <p:cNvPr id="20" name="Picture 19" descr="notes icon"/>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12948" y="2880360"/>
            <a:ext cx="585216" cy="585216"/>
          </a:xfrm>
          <a:prstGeom prst="rect">
            <a:avLst/>
          </a:prstGeom>
        </p:spPr>
      </p:pic>
      <p:sp>
        <p:nvSpPr>
          <p:cNvPr id="21" name="TextBox 20"/>
          <p:cNvSpPr txBox="1"/>
          <p:nvPr/>
        </p:nvSpPr>
        <p:spPr>
          <a:xfrm>
            <a:off x="2802636" y="3566160"/>
            <a:ext cx="1005840" cy="274320"/>
          </a:xfrm>
          <a:prstGeom prst="rect">
            <a:avLst/>
          </a:prstGeom>
          <a:noFill/>
        </p:spPr>
        <p:txBody>
          <a:bodyPr wrap="square" lIns="0" rIns="0" tIns="0" bIns="0" anchor="ctr">
            <a:spAutoFit/>
          </a:bodyPr>
          <a:lstStyle/>
          <a:p>
            <a:pPr algn="ctr"/>
            <a:r>
              <a:rPr sz="1200" b="0" i="0">
                <a:solidFill>
                  <a:srgbClr val="E6E6E6"/>
                </a:solidFill>
                <a:latin typeface="Calibri"/>
              </a:rPr>
              <a:t>Notes</a:t>
            </a:r>
          </a:p>
        </p:txBody>
      </p:sp>
      <p:sp>
        <p:nvSpPr>
          <p:cNvPr id="22" name="TextBox 21"/>
          <p:cNvSpPr txBox="1"/>
          <p:nvPr/>
        </p:nvSpPr>
        <p:spPr>
          <a:xfrm>
            <a:off x="4539996" y="2788920"/>
            <a:ext cx="1554480" cy="731520"/>
          </a:xfrm>
          <a:prstGeom prst="rect">
            <a:avLst/>
          </a:prstGeom>
          <a:noFill/>
        </p:spPr>
        <p:txBody>
          <a:bodyPr wrap="square" lIns="0" rIns="0" tIns="0" bIns="0" anchor="ctr">
            <a:spAutoFit/>
          </a:bodyPr>
          <a:lstStyle/>
          <a:p>
            <a:pPr algn="ctr"/>
            <a:r>
              <a:rPr sz="4400" b="1" i="0">
                <a:solidFill>
                  <a:srgbClr val="FFFFFF"/>
                </a:solidFill>
                <a:latin typeface="Calibri"/>
              </a:rPr>
              <a:t>97.8%</a:t>
            </a:r>
          </a:p>
        </p:txBody>
      </p:sp>
      <p:sp>
        <p:nvSpPr>
          <p:cNvPr id="23" name="TextBox 22"/>
          <p:cNvSpPr txBox="1"/>
          <p:nvPr/>
        </p:nvSpPr>
        <p:spPr>
          <a:xfrm>
            <a:off x="4631436" y="3566160"/>
            <a:ext cx="1371600" cy="502920"/>
          </a:xfrm>
          <a:prstGeom prst="rect">
            <a:avLst/>
          </a:prstGeom>
          <a:noFill/>
        </p:spPr>
        <p:txBody>
          <a:bodyPr wrap="square" lIns="0" rIns="0" tIns="0" bIns="0" anchor="t">
            <a:spAutoFit/>
          </a:bodyPr>
          <a:lstStyle/>
          <a:p>
            <a:pPr algn="ctr"/>
            <a:r>
              <a:rPr sz="1200" b="0" i="0">
                <a:solidFill>
                  <a:srgbClr val="E6E6E6"/>
                </a:solidFill>
                <a:latin typeface="Calibri"/>
              </a:rPr>
              <a:t>junk in a Mem0 audit</a:t>
            </a:r>
          </a:p>
        </p:txBody>
      </p:sp>
      <p:sp>
        <p:nvSpPr>
          <p:cNvPr id="24" name="TextBox 23"/>
          <p:cNvSpPr txBox="1"/>
          <p:nvPr/>
        </p:nvSpPr>
        <p:spPr>
          <a:xfrm>
            <a:off x="6094476" y="2788920"/>
            <a:ext cx="1554480" cy="731520"/>
          </a:xfrm>
          <a:prstGeom prst="rect">
            <a:avLst/>
          </a:prstGeom>
          <a:noFill/>
        </p:spPr>
        <p:txBody>
          <a:bodyPr wrap="square" lIns="0" rIns="0" tIns="0" bIns="0" anchor="ctr">
            <a:spAutoFit/>
          </a:bodyPr>
          <a:lstStyle/>
          <a:p>
            <a:pPr algn="ctr"/>
            <a:r>
              <a:rPr sz="4400" b="1" i="0">
                <a:solidFill>
                  <a:srgbClr val="FFFFFF"/>
                </a:solidFill>
                <a:latin typeface="Calibri"/>
              </a:rPr>
              <a:t>41%</a:t>
            </a:r>
          </a:p>
        </p:txBody>
      </p:sp>
      <p:sp>
        <p:nvSpPr>
          <p:cNvPr id="25" name="TextBox 24"/>
          <p:cNvSpPr txBox="1"/>
          <p:nvPr/>
        </p:nvSpPr>
        <p:spPr>
          <a:xfrm>
            <a:off x="6185916" y="3566160"/>
            <a:ext cx="1371600" cy="502920"/>
          </a:xfrm>
          <a:prstGeom prst="rect">
            <a:avLst/>
          </a:prstGeom>
          <a:noFill/>
        </p:spPr>
        <p:txBody>
          <a:bodyPr wrap="square" lIns="0" rIns="0" tIns="0" bIns="0" anchor="t">
            <a:spAutoFit/>
          </a:bodyPr>
          <a:lstStyle/>
          <a:p>
            <a:pPr algn="ctr"/>
            <a:r>
              <a:rPr sz="1200" b="0" i="0">
                <a:solidFill>
                  <a:srgbClr val="E6E6E6"/>
                </a:solidFill>
                <a:latin typeface="Calibri"/>
              </a:rPr>
              <a:t>Graphiti facts invalidated</a:t>
            </a:r>
          </a:p>
        </p:txBody>
      </p:sp>
      <p:sp>
        <p:nvSpPr>
          <p:cNvPr id="26" name="TextBox 25"/>
          <p:cNvSpPr txBox="1"/>
          <p:nvPr/>
        </p:nvSpPr>
        <p:spPr>
          <a:xfrm>
            <a:off x="8334756" y="2788920"/>
            <a:ext cx="3108960" cy="1005840"/>
          </a:xfrm>
          <a:prstGeom prst="rect">
            <a:avLst/>
          </a:prstGeom>
          <a:noFill/>
        </p:spPr>
        <p:txBody>
          <a:bodyPr wrap="square" lIns="0" rIns="0" tIns="0" bIns="0" anchor="ctr">
            <a:spAutoFit/>
          </a:bodyPr>
          <a:lstStyle/>
          <a:p>
            <a:pPr algn="ctr"/>
            <a:r>
              <a:rPr sz="6400" b="1" i="0">
                <a:solidFill>
                  <a:srgbClr val="FFFFFF"/>
                </a:solidFill>
                <a:latin typeface="Calibri"/>
              </a:rPr>
              <a:t>7.5%</a:t>
            </a:r>
          </a:p>
        </p:txBody>
      </p:sp>
      <p:sp>
        <p:nvSpPr>
          <p:cNvPr id="27"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C.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Our answer: </a:t>
            </a:r>
            <a:r>
              <a:rPr sz="3600" b="0" i="0">
                <a:solidFill>
                  <a:srgbClr val="FFFFFF"/>
                </a:solidFill>
                <a:latin typeface="Calibri"/>
              </a:rPr>
              <a:t>a personal AI.</a:t>
            </a:r>
          </a:p>
        </p:txBody>
      </p:sp>
      <p:sp>
        <p:nvSpPr>
          <p:cNvPr id="4" name="Rounded Rectangle 3"/>
          <p:cNvSpPr/>
          <p:nvPr/>
        </p:nvSpPr>
        <p:spPr>
          <a:xfrm>
            <a:off x="548640" y="1463040"/>
            <a:ext cx="2093976" cy="1783080"/>
          </a:xfrm>
          <a:prstGeom prst="roundRect">
            <a:avLst>
              <a:gd name="adj" fmla="val 615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user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7884" y="1664208"/>
            <a:ext cx="475488" cy="475488"/>
          </a:xfrm>
          <a:prstGeom prst="rect">
            <a:avLst/>
          </a:prstGeom>
        </p:spPr>
      </p:pic>
      <p:sp>
        <p:nvSpPr>
          <p:cNvPr id="6" name="TextBox 5"/>
          <p:cNvSpPr txBox="1"/>
          <p:nvPr/>
        </p:nvSpPr>
        <p:spPr>
          <a:xfrm>
            <a:off x="685800" y="2286000"/>
            <a:ext cx="1819656" cy="320040"/>
          </a:xfrm>
          <a:prstGeom prst="rect">
            <a:avLst/>
          </a:prstGeom>
          <a:noFill/>
        </p:spPr>
        <p:txBody>
          <a:bodyPr wrap="square" lIns="0" rIns="0" tIns="0" bIns="0" anchor="ctr">
            <a:spAutoFit/>
          </a:bodyPr>
          <a:lstStyle/>
          <a:p>
            <a:pPr algn="ctr"/>
            <a:r>
              <a:rPr sz="1500" b="1" i="0">
                <a:solidFill>
                  <a:srgbClr val="FFFFFF"/>
                </a:solidFill>
                <a:latin typeface="Calibri"/>
              </a:rPr>
              <a:t>Personal AI</a:t>
            </a:r>
          </a:p>
        </p:txBody>
      </p:sp>
      <p:sp>
        <p:nvSpPr>
          <p:cNvPr id="7" name="TextBox 6"/>
          <p:cNvSpPr txBox="1"/>
          <p:nvPr/>
        </p:nvSpPr>
        <p:spPr>
          <a:xfrm>
            <a:off x="731520" y="2633472"/>
            <a:ext cx="1728216" cy="502920"/>
          </a:xfrm>
          <a:prstGeom prst="rect">
            <a:avLst/>
          </a:prstGeom>
          <a:noFill/>
        </p:spPr>
        <p:txBody>
          <a:bodyPr wrap="square" lIns="0" rIns="0" tIns="0" bIns="0" anchor="t">
            <a:spAutoFit/>
          </a:bodyPr>
          <a:lstStyle/>
          <a:p>
            <a:pPr algn="ctr"/>
            <a:r>
              <a:rPr sz="1250" b="0" i="0">
                <a:solidFill>
                  <a:srgbClr val="A0A0A0"/>
                </a:solidFill>
                <a:latin typeface="Calibri"/>
              </a:rPr>
              <a:t>learns how you judge</a:t>
            </a:r>
          </a:p>
        </p:txBody>
      </p:sp>
      <p:sp>
        <p:nvSpPr>
          <p:cNvPr id="8" name="Rounded Rectangle 7"/>
          <p:cNvSpPr/>
          <p:nvPr/>
        </p:nvSpPr>
        <p:spPr>
          <a:xfrm>
            <a:off x="2798064" y="1463040"/>
            <a:ext cx="2093976" cy="1783080"/>
          </a:xfrm>
          <a:prstGeom prst="roundRect">
            <a:avLst>
              <a:gd name="adj" fmla="val 615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aptop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07308" y="1664208"/>
            <a:ext cx="475488" cy="475488"/>
          </a:xfrm>
          <a:prstGeom prst="rect">
            <a:avLst/>
          </a:prstGeom>
        </p:spPr>
      </p:pic>
      <p:sp>
        <p:nvSpPr>
          <p:cNvPr id="10" name="TextBox 9"/>
          <p:cNvSpPr txBox="1"/>
          <p:nvPr/>
        </p:nvSpPr>
        <p:spPr>
          <a:xfrm>
            <a:off x="2935224" y="2286000"/>
            <a:ext cx="1819656" cy="320040"/>
          </a:xfrm>
          <a:prstGeom prst="rect">
            <a:avLst/>
          </a:prstGeom>
          <a:noFill/>
        </p:spPr>
        <p:txBody>
          <a:bodyPr wrap="square" lIns="0" rIns="0" tIns="0" bIns="0" anchor="ctr">
            <a:spAutoFit/>
          </a:bodyPr>
          <a:lstStyle/>
          <a:p>
            <a:pPr algn="ctr"/>
            <a:r>
              <a:rPr sz="1500" b="1" i="0">
                <a:solidFill>
                  <a:srgbClr val="FFFFFF"/>
                </a:solidFill>
                <a:latin typeface="Calibri"/>
              </a:rPr>
              <a:t>Locally hosted</a:t>
            </a:r>
          </a:p>
        </p:txBody>
      </p:sp>
      <p:sp>
        <p:nvSpPr>
          <p:cNvPr id="11" name="TextBox 10"/>
          <p:cNvSpPr txBox="1"/>
          <p:nvPr/>
        </p:nvSpPr>
        <p:spPr>
          <a:xfrm>
            <a:off x="2980944" y="2633472"/>
            <a:ext cx="1728216" cy="502920"/>
          </a:xfrm>
          <a:prstGeom prst="rect">
            <a:avLst/>
          </a:prstGeom>
          <a:noFill/>
        </p:spPr>
        <p:txBody>
          <a:bodyPr wrap="square" lIns="0" rIns="0" tIns="0" bIns="0" anchor="t">
            <a:spAutoFit/>
          </a:bodyPr>
          <a:lstStyle/>
          <a:p>
            <a:pPr algn="ctr"/>
            <a:r>
              <a:rPr sz="1250" b="0" i="0">
                <a:solidFill>
                  <a:srgbClr val="A0A0A0"/>
                </a:solidFill>
                <a:latin typeface="Calibri"/>
              </a:rPr>
              <a:t>zero cloud calls</a:t>
            </a:r>
          </a:p>
        </p:txBody>
      </p:sp>
      <p:sp>
        <p:nvSpPr>
          <p:cNvPr id="12" name="Rounded Rectangle 11"/>
          <p:cNvSpPr/>
          <p:nvPr/>
        </p:nvSpPr>
        <p:spPr>
          <a:xfrm>
            <a:off x="5047488" y="1463040"/>
            <a:ext cx="2093976" cy="1783080"/>
          </a:xfrm>
          <a:prstGeom prst="roundRect">
            <a:avLst>
              <a:gd name="adj" fmla="val 615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liders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56732" y="1664208"/>
            <a:ext cx="475488" cy="475488"/>
          </a:xfrm>
          <a:prstGeom prst="rect">
            <a:avLst/>
          </a:prstGeom>
        </p:spPr>
      </p:pic>
      <p:sp>
        <p:nvSpPr>
          <p:cNvPr id="14" name="TextBox 13"/>
          <p:cNvSpPr txBox="1"/>
          <p:nvPr/>
        </p:nvSpPr>
        <p:spPr>
          <a:xfrm>
            <a:off x="5184648" y="2286000"/>
            <a:ext cx="1819656" cy="320040"/>
          </a:xfrm>
          <a:prstGeom prst="rect">
            <a:avLst/>
          </a:prstGeom>
          <a:noFill/>
        </p:spPr>
        <p:txBody>
          <a:bodyPr wrap="square" lIns="0" rIns="0" tIns="0" bIns="0" anchor="ctr">
            <a:spAutoFit/>
          </a:bodyPr>
          <a:lstStyle/>
          <a:p>
            <a:pPr algn="ctr"/>
            <a:r>
              <a:rPr sz="1500" b="1" i="0">
                <a:solidFill>
                  <a:srgbClr val="FFFFFF"/>
                </a:solidFill>
                <a:latin typeface="Calibri"/>
              </a:rPr>
              <a:t>Fine-tuned LLM</a:t>
            </a:r>
          </a:p>
        </p:txBody>
      </p:sp>
      <p:sp>
        <p:nvSpPr>
          <p:cNvPr id="15" name="TextBox 14"/>
          <p:cNvSpPr txBox="1"/>
          <p:nvPr/>
        </p:nvSpPr>
        <p:spPr>
          <a:xfrm>
            <a:off x="5230368" y="2633472"/>
            <a:ext cx="1728216" cy="502920"/>
          </a:xfrm>
          <a:prstGeom prst="rect">
            <a:avLst/>
          </a:prstGeom>
          <a:noFill/>
        </p:spPr>
        <p:txBody>
          <a:bodyPr wrap="square" lIns="0" rIns="0" tIns="0" bIns="0" anchor="t">
            <a:spAutoFit/>
          </a:bodyPr>
          <a:lstStyle/>
          <a:p>
            <a:pPr algn="ctr"/>
            <a:r>
              <a:rPr sz="1250" b="0" i="0">
                <a:solidFill>
                  <a:srgbClr val="A0A0A0"/>
                </a:solidFill>
                <a:latin typeface="Calibri"/>
              </a:rPr>
              <a:t>a 1.7B trained on you</a:t>
            </a:r>
          </a:p>
        </p:txBody>
      </p:sp>
      <p:sp>
        <p:nvSpPr>
          <p:cNvPr id="16" name="Rounded Rectangle 15"/>
          <p:cNvSpPr/>
          <p:nvPr/>
        </p:nvSpPr>
        <p:spPr>
          <a:xfrm>
            <a:off x="7296912" y="1463040"/>
            <a:ext cx="2093976" cy="1783080"/>
          </a:xfrm>
          <a:prstGeom prst="roundRect">
            <a:avLst>
              <a:gd name="adj" fmla="val 615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 ico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06156" y="1664208"/>
            <a:ext cx="475488" cy="475488"/>
          </a:xfrm>
          <a:prstGeom prst="rect">
            <a:avLst/>
          </a:prstGeom>
        </p:spPr>
      </p:pic>
      <p:sp>
        <p:nvSpPr>
          <p:cNvPr id="18" name="TextBox 17"/>
          <p:cNvSpPr txBox="1"/>
          <p:nvPr/>
        </p:nvSpPr>
        <p:spPr>
          <a:xfrm>
            <a:off x="7434072" y="2286000"/>
            <a:ext cx="1819656" cy="320040"/>
          </a:xfrm>
          <a:prstGeom prst="rect">
            <a:avLst/>
          </a:prstGeom>
          <a:noFill/>
        </p:spPr>
        <p:txBody>
          <a:bodyPr wrap="square" lIns="0" rIns="0" tIns="0" bIns="0" anchor="ctr">
            <a:spAutoFit/>
          </a:bodyPr>
          <a:lstStyle/>
          <a:p>
            <a:pPr algn="ctr"/>
            <a:r>
              <a:rPr sz="1500" b="1" i="0">
                <a:solidFill>
                  <a:srgbClr val="FFFFFF"/>
                </a:solidFill>
                <a:latin typeface="Calibri"/>
              </a:rPr>
              <a:t>Society of LLMs</a:t>
            </a:r>
          </a:p>
        </p:txBody>
      </p:sp>
      <p:sp>
        <p:nvSpPr>
          <p:cNvPr id="19" name="TextBox 18"/>
          <p:cNvSpPr txBox="1"/>
          <p:nvPr/>
        </p:nvSpPr>
        <p:spPr>
          <a:xfrm>
            <a:off x="7479792" y="2633472"/>
            <a:ext cx="1728216" cy="502920"/>
          </a:xfrm>
          <a:prstGeom prst="rect">
            <a:avLst/>
          </a:prstGeom>
          <a:noFill/>
        </p:spPr>
        <p:txBody>
          <a:bodyPr wrap="square" lIns="0" rIns="0" tIns="0" bIns="0" anchor="t">
            <a:spAutoFit/>
          </a:bodyPr>
          <a:lstStyle/>
          <a:p>
            <a:pPr algn="ctr"/>
            <a:r>
              <a:rPr sz="1250" b="0" i="0">
                <a:solidFill>
                  <a:srgbClr val="A0A0A0"/>
                </a:solidFill>
                <a:latin typeface="Calibri"/>
              </a:rPr>
              <a:t>fast small, slow large, you</a:t>
            </a:r>
          </a:p>
        </p:txBody>
      </p:sp>
      <p:sp>
        <p:nvSpPr>
          <p:cNvPr id="20" name="Rounded Rectangle 19"/>
          <p:cNvSpPr/>
          <p:nvPr/>
        </p:nvSpPr>
        <p:spPr>
          <a:xfrm>
            <a:off x="9546336" y="1463040"/>
            <a:ext cx="2093976" cy="1783080"/>
          </a:xfrm>
          <a:prstGeom prst="roundRect">
            <a:avLst>
              <a:gd name="adj" fmla="val 6153"/>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 icon"/>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55580" y="1664208"/>
            <a:ext cx="475488" cy="475488"/>
          </a:xfrm>
          <a:prstGeom prst="rect">
            <a:avLst/>
          </a:prstGeom>
        </p:spPr>
      </p:pic>
      <p:sp>
        <p:nvSpPr>
          <p:cNvPr id="22" name="TextBox 21"/>
          <p:cNvSpPr txBox="1"/>
          <p:nvPr/>
        </p:nvSpPr>
        <p:spPr>
          <a:xfrm>
            <a:off x="9683496" y="2286000"/>
            <a:ext cx="1819656" cy="320040"/>
          </a:xfrm>
          <a:prstGeom prst="rect">
            <a:avLst/>
          </a:prstGeom>
          <a:noFill/>
        </p:spPr>
        <p:txBody>
          <a:bodyPr wrap="square" lIns="0" rIns="0" tIns="0" bIns="0" anchor="ctr">
            <a:spAutoFit/>
          </a:bodyPr>
          <a:lstStyle/>
          <a:p>
            <a:pPr algn="ctr"/>
            <a:r>
              <a:rPr sz="1500" b="1" i="0">
                <a:solidFill>
                  <a:srgbClr val="FFFFFF"/>
                </a:solidFill>
                <a:latin typeface="Calibri"/>
              </a:rPr>
              <a:t>Second brain</a:t>
            </a:r>
          </a:p>
        </p:txBody>
      </p:sp>
      <p:sp>
        <p:nvSpPr>
          <p:cNvPr id="23" name="TextBox 22"/>
          <p:cNvSpPr txBox="1"/>
          <p:nvPr/>
        </p:nvSpPr>
        <p:spPr>
          <a:xfrm>
            <a:off x="9729216" y="2633472"/>
            <a:ext cx="1728216" cy="502920"/>
          </a:xfrm>
          <a:prstGeom prst="rect">
            <a:avLst/>
          </a:prstGeom>
          <a:noFill/>
        </p:spPr>
        <p:txBody>
          <a:bodyPr wrap="square" lIns="0" rIns="0" tIns="0" bIns="0" anchor="t">
            <a:spAutoFit/>
          </a:bodyPr>
          <a:lstStyle/>
          <a:p>
            <a:pPr algn="ctr"/>
            <a:r>
              <a:rPr sz="1250" b="0" i="0">
                <a:solidFill>
                  <a:srgbClr val="A0A0A0"/>
                </a:solidFill>
                <a:latin typeface="Calibri"/>
              </a:rPr>
              <a:t>memory with sources</a:t>
            </a:r>
          </a:p>
        </p:txBody>
      </p:sp>
      <p:sp>
        <p:nvSpPr>
          <p:cNvPr id="24" name="Rounded Rectangle 23"/>
          <p:cNvSpPr/>
          <p:nvPr/>
        </p:nvSpPr>
        <p:spPr>
          <a:xfrm>
            <a:off x="548640" y="3474720"/>
            <a:ext cx="5532120" cy="2240280"/>
          </a:xfrm>
          <a:prstGeom prst="roundRect">
            <a:avLst>
              <a:gd name="adj" fmla="val 489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3593592"/>
            <a:ext cx="5029200" cy="274320"/>
          </a:xfrm>
          <a:prstGeom prst="rect">
            <a:avLst/>
          </a:prstGeom>
          <a:noFill/>
        </p:spPr>
        <p:txBody>
          <a:bodyPr wrap="square" lIns="0" rIns="0" tIns="0" bIns="0" anchor="t">
            <a:spAutoFit/>
          </a:bodyPr>
          <a:lstStyle/>
          <a:p>
            <a:pPr algn="l"/>
            <a:r>
              <a:rPr sz="1200" b="1" i="0">
                <a:solidFill>
                  <a:srgbClr val="A0A0A0"/>
                </a:solidFill>
                <a:latin typeface="Calibri"/>
              </a:rPr>
              <a:t>How it decides</a:t>
            </a:r>
          </a:p>
        </p:txBody>
      </p:sp>
      <p:pic>
        <p:nvPicPr>
          <p:cNvPr id="26" name="Ladder S0-S1-S2-You" descr="ladder.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7240" y="3886200"/>
            <a:ext cx="5074920" cy="1806327"/>
          </a:xfrm>
          <a:prstGeom prst="rect">
            <a:avLst/>
          </a:prstGeom>
        </p:spPr>
      </p:pic>
      <p:sp>
        <p:nvSpPr>
          <p:cNvPr id="27" name="Rounded Rectangle 26"/>
          <p:cNvSpPr/>
          <p:nvPr/>
        </p:nvSpPr>
        <p:spPr>
          <a:xfrm>
            <a:off x="6309360" y="3474720"/>
            <a:ext cx="5330952" cy="2240280"/>
          </a:xfrm>
          <a:prstGeom prst="roundRect">
            <a:avLst>
              <a:gd name="adj" fmla="val 489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37960" y="3593592"/>
            <a:ext cx="4846320" cy="274320"/>
          </a:xfrm>
          <a:prstGeom prst="rect">
            <a:avLst/>
          </a:prstGeom>
          <a:noFill/>
        </p:spPr>
        <p:txBody>
          <a:bodyPr wrap="square" lIns="0" rIns="0" tIns="0" bIns="0" anchor="t">
            <a:spAutoFit/>
          </a:bodyPr>
          <a:lstStyle/>
          <a:p>
            <a:pPr algn="l"/>
            <a:r>
              <a:rPr sz="1200" b="1" i="0">
                <a:solidFill>
                  <a:srgbClr val="A0A0A0"/>
                </a:solidFill>
                <a:latin typeface="Calibri"/>
              </a:rPr>
              <a:t>The engram web app, on a phone</a:t>
            </a:r>
          </a:p>
        </p:txBody>
      </p:sp>
      <p:pic>
        <p:nvPicPr>
          <p:cNvPr id="29" name="Screens: engram views" descr="390-dark-views-grey.png"/>
          <p:cNvPicPr>
            <a:picLocks noChangeAspect="1"/>
          </p:cNvPicPr>
          <p:nvPr/>
        </p:nvPicPr>
        <p:blipFill>
          <a:blip r:embed="rId15"/>
          <a:stretch>
            <a:fillRect/>
          </a:stretch>
        </p:blipFill>
        <p:spPr>
          <a:xfrm>
            <a:off x="6537960" y="3931920"/>
            <a:ext cx="4873752" cy="1757883"/>
          </a:xfrm>
          <a:prstGeom prst="rect">
            <a:avLst/>
          </a:prstGeom>
        </p:spPr>
      </p:pic>
      <p:sp>
        <p:nvSpPr>
          <p:cNvPr id="30"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D.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The brain </a:t>
            </a:r>
            <a:r>
              <a:rPr sz="3600" b="0" i="0">
                <a:solidFill>
                  <a:srgbClr val="FFFFFF"/>
                </a:solidFill>
                <a:latin typeface="Calibri"/>
              </a:rPr>
              <a:t>and its society of agents.</a:t>
            </a:r>
          </a:p>
        </p:txBody>
      </p:sp>
      <p:pic>
        <p:nvPicPr>
          <p:cNvPr id="4" name="Architecture diagram" descr="architectur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1371600"/>
            <a:ext cx="11091672" cy="4389120"/>
          </a:xfrm>
          <a:prstGeom prst="rect">
            <a:avLst/>
          </a:prstGeom>
        </p:spPr>
      </p:pic>
      <p:sp>
        <p:nvSpPr>
          <p:cNvPr id="5"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B.png"/>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Fine-tuned on you, </a:t>
            </a:r>
            <a:r>
              <a:rPr sz="3600" b="0" i="0">
                <a:solidFill>
                  <a:srgbClr val="FFFFFF"/>
                </a:solidFill>
                <a:latin typeface="Calibri"/>
              </a:rPr>
              <a:t>approved on your wrist.</a:t>
            </a:r>
          </a:p>
        </p:txBody>
      </p:sp>
      <p:sp>
        <p:nvSpPr>
          <p:cNvPr id="4" name="Rounded Rectangle 3"/>
          <p:cNvSpPr/>
          <p:nvPr/>
        </p:nvSpPr>
        <p:spPr>
          <a:xfrm>
            <a:off x="548640" y="1371600"/>
            <a:ext cx="5440680" cy="2011680"/>
          </a:xfrm>
          <a:prstGeom prst="roundRect">
            <a:avLst>
              <a:gd name="adj" fmla="val 5454"/>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Fine-tuning loop" descr="finetune_loop.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800" y="1463040"/>
            <a:ext cx="5166360" cy="1751308"/>
          </a:xfrm>
          <a:prstGeom prst="rect">
            <a:avLst/>
          </a:prstGeom>
        </p:spPr>
      </p:pic>
      <p:sp>
        <p:nvSpPr>
          <p:cNvPr id="6" name="Rounded Rectangle 5"/>
          <p:cNvSpPr/>
          <p:nvPr/>
        </p:nvSpPr>
        <p:spPr>
          <a:xfrm>
            <a:off x="548640" y="3547872"/>
            <a:ext cx="5440680" cy="2212848"/>
          </a:xfrm>
          <a:prstGeom prst="roundRect">
            <a:avLst>
              <a:gd name="adj" fmla="val 4958"/>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3639312"/>
            <a:ext cx="5029200" cy="256032"/>
          </a:xfrm>
          <a:prstGeom prst="rect">
            <a:avLst/>
          </a:prstGeom>
          <a:noFill/>
        </p:spPr>
        <p:txBody>
          <a:bodyPr wrap="square" lIns="0" rIns="0" tIns="0" bIns="0" anchor="t">
            <a:spAutoFit/>
          </a:bodyPr>
          <a:lstStyle/>
          <a:p>
            <a:pPr algn="l"/>
            <a:r>
              <a:rPr sz="1200" b="1" i="0">
                <a:solidFill>
                  <a:srgbClr val="A0A0A0"/>
                </a:solidFill>
                <a:latin typeface="Calibri"/>
              </a:rPr>
              <a:t>Held-out accuracy, %</a:t>
            </a:r>
          </a:p>
        </p:txBody>
      </p:sp>
      <p:graphicFrame>
        <p:nvGraphicFramePr>
          <p:cNvPr id="8" name="Accuracy chart"/>
          <p:cNvGraphicFramePr>
            <a:graphicFrameLocks noGrp="1"/>
          </p:cNvGraphicFramePr>
          <p:nvPr/>
        </p:nvGraphicFramePr>
        <p:xfrm>
          <a:off x="640080" y="3858768"/>
          <a:ext cx="5257800" cy="1847088"/>
        </p:xfrm>
        <a:graphic>
          <a:graphicData uri="http://schemas.openxmlformats.org/drawingml/2006/chart">
            <c:chart xmlns:c="http://schemas.openxmlformats.org/drawingml/2006/chart" r:id="rId6"/>
          </a:graphicData>
        </a:graphic>
      </p:graphicFrame>
      <p:sp>
        <p:nvSpPr>
          <p:cNvPr id="9" name="Rounded Rectangle 8"/>
          <p:cNvSpPr/>
          <p:nvPr/>
        </p:nvSpPr>
        <p:spPr>
          <a:xfrm>
            <a:off x="6217920" y="1371600"/>
            <a:ext cx="5422392" cy="4389120"/>
          </a:xfrm>
          <a:prstGeom prst="roundRect">
            <a:avLst>
              <a:gd name="adj" fmla="val 2500"/>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Watch approval flow" descr="watch_flow.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8544" y="1517904"/>
            <a:ext cx="4613324" cy="4114800"/>
          </a:xfrm>
          <a:prstGeom prst="rect">
            <a:avLst/>
          </a:prstGeom>
        </p:spPr>
      </p:pic>
      <p:sp>
        <p:nvSpPr>
          <p:cNvPr id="11"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A.png"/>
          <p:cNvPicPr>
            <a:picLocks noChangeAspect="1"/>
          </p:cNvPicPr>
          <p:nvPr/>
        </p:nvPicPr>
        <p:blipFill>
          <a:blip r:embed="rId3"/>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Impact: </a:t>
            </a:r>
            <a:r>
              <a:rPr sz="3600" b="0" i="0">
                <a:solidFill>
                  <a:srgbClr val="FFFFFF"/>
                </a:solidFill>
                <a:latin typeface="Calibri"/>
              </a:rPr>
              <a:t>private, personal, faster.</a:t>
            </a:r>
          </a:p>
        </p:txBody>
      </p:sp>
      <p:sp>
        <p:nvSpPr>
          <p:cNvPr id="4" name="Rounded Rectangle 3"/>
          <p:cNvSpPr/>
          <p:nvPr/>
        </p:nvSpPr>
        <p:spPr>
          <a:xfrm>
            <a:off x="548640" y="1417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ock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240" y="1645920"/>
            <a:ext cx="329184" cy="329184"/>
          </a:xfrm>
          <a:prstGeom prst="rect">
            <a:avLst/>
          </a:prstGeom>
        </p:spPr>
      </p:pic>
      <p:sp>
        <p:nvSpPr>
          <p:cNvPr id="6" name="TextBox 5"/>
          <p:cNvSpPr txBox="1"/>
          <p:nvPr/>
        </p:nvSpPr>
        <p:spPr>
          <a:xfrm>
            <a:off x="1207008" y="1645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Private</a:t>
            </a:r>
          </a:p>
        </p:txBody>
      </p:sp>
      <p:sp>
        <p:nvSpPr>
          <p:cNvPr id="7" name="TextBox 6"/>
          <p:cNvSpPr txBox="1"/>
          <p:nvPr/>
        </p:nvSpPr>
        <p:spPr>
          <a:xfrm>
            <a:off x="777240" y="2148840"/>
            <a:ext cx="1920240" cy="548640"/>
          </a:xfrm>
          <a:prstGeom prst="rect">
            <a:avLst/>
          </a:prstGeom>
          <a:noFill/>
        </p:spPr>
        <p:txBody>
          <a:bodyPr wrap="square" lIns="0" rIns="0" tIns="0" bIns="0" anchor="ctr">
            <a:spAutoFit/>
          </a:bodyPr>
          <a:lstStyle/>
          <a:p>
            <a:pPr algn="l"/>
            <a:r>
              <a:rPr sz="3400" b="1" i="0">
                <a:solidFill>
                  <a:srgbClr val="FFFFFF"/>
                </a:solidFill>
                <a:latin typeface="Calibri"/>
              </a:rPr>
              <a:t>0</a:t>
            </a:r>
          </a:p>
        </p:txBody>
      </p:sp>
      <p:sp>
        <p:nvSpPr>
          <p:cNvPr id="8" name="TextBox 7"/>
          <p:cNvSpPr txBox="1"/>
          <p:nvPr/>
        </p:nvSpPr>
        <p:spPr>
          <a:xfrm>
            <a:off x="777240" y="2788920"/>
            <a:ext cx="1874520" cy="594360"/>
          </a:xfrm>
          <a:prstGeom prst="rect">
            <a:avLst/>
          </a:prstGeom>
          <a:noFill/>
        </p:spPr>
        <p:txBody>
          <a:bodyPr wrap="square" lIns="0" rIns="0" tIns="0" bIns="0" anchor="t">
            <a:spAutoFit/>
          </a:bodyPr>
          <a:lstStyle/>
          <a:p>
            <a:pPr algn="l"/>
            <a:r>
              <a:rPr sz="1200" b="0" i="0">
                <a:solidFill>
                  <a:srgbClr val="A0A0A0"/>
                </a:solidFill>
                <a:latin typeface="Calibri"/>
              </a:rPr>
              <a:t>cloud calls; every model runs locally</a:t>
            </a:r>
          </a:p>
        </p:txBody>
      </p:sp>
      <p:sp>
        <p:nvSpPr>
          <p:cNvPr id="9" name="Rounded Rectangle 8"/>
          <p:cNvSpPr/>
          <p:nvPr/>
        </p:nvSpPr>
        <p:spPr>
          <a:xfrm>
            <a:off x="3017520" y="1417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nger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46120" y="1645920"/>
            <a:ext cx="329184" cy="329184"/>
          </a:xfrm>
          <a:prstGeom prst="rect">
            <a:avLst/>
          </a:prstGeom>
        </p:spPr>
      </p:pic>
      <p:sp>
        <p:nvSpPr>
          <p:cNvPr id="11" name="TextBox 10"/>
          <p:cNvSpPr txBox="1"/>
          <p:nvPr/>
        </p:nvSpPr>
        <p:spPr>
          <a:xfrm>
            <a:off x="3675888" y="1645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Personalised</a:t>
            </a:r>
          </a:p>
        </p:txBody>
      </p:sp>
      <p:sp>
        <p:nvSpPr>
          <p:cNvPr id="12" name="TextBox 11"/>
          <p:cNvSpPr txBox="1"/>
          <p:nvPr/>
        </p:nvSpPr>
        <p:spPr>
          <a:xfrm>
            <a:off x="3246120" y="2148840"/>
            <a:ext cx="1920240" cy="548640"/>
          </a:xfrm>
          <a:prstGeom prst="rect">
            <a:avLst/>
          </a:prstGeom>
          <a:noFill/>
        </p:spPr>
        <p:txBody>
          <a:bodyPr wrap="square" lIns="0" rIns="0" tIns="0" bIns="0" anchor="ctr">
            <a:spAutoFit/>
          </a:bodyPr>
          <a:lstStyle/>
          <a:p>
            <a:pPr algn="l"/>
            <a:r>
              <a:rPr sz="3400" b="1" i="0">
                <a:solidFill>
                  <a:srgbClr val="FFFFFF"/>
                </a:solidFill>
                <a:latin typeface="Calibri"/>
              </a:rPr>
              <a:t>96.6%</a:t>
            </a:r>
          </a:p>
        </p:txBody>
      </p:sp>
      <p:sp>
        <p:nvSpPr>
          <p:cNvPr id="13" name="TextBox 12"/>
          <p:cNvSpPr txBox="1"/>
          <p:nvPr/>
        </p:nvSpPr>
        <p:spPr>
          <a:xfrm>
            <a:off x="3246120" y="2788920"/>
            <a:ext cx="1874520" cy="594360"/>
          </a:xfrm>
          <a:prstGeom prst="rect">
            <a:avLst/>
          </a:prstGeom>
          <a:noFill/>
        </p:spPr>
        <p:txBody>
          <a:bodyPr wrap="square" lIns="0" rIns="0" tIns="0" bIns="0" anchor="t">
            <a:spAutoFit/>
          </a:bodyPr>
          <a:lstStyle/>
          <a:p>
            <a:pPr algn="l"/>
            <a:r>
              <a:rPr sz="1200" b="0" i="0">
                <a:solidFill>
                  <a:srgbClr val="A0A0A0"/>
                </a:solidFill>
                <a:latin typeface="Calibri"/>
              </a:rPr>
              <a:t>fine-tuned 1.7B vs 95.5% for the 14B</a:t>
            </a:r>
          </a:p>
        </p:txBody>
      </p:sp>
      <p:sp>
        <p:nvSpPr>
          <p:cNvPr id="14" name="Rounded Rectangle 13"/>
          <p:cNvSpPr/>
          <p:nvPr/>
        </p:nvSpPr>
        <p:spPr>
          <a:xfrm>
            <a:off x="5486400" y="1417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ayers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15000" y="1645920"/>
            <a:ext cx="329184" cy="329184"/>
          </a:xfrm>
          <a:prstGeom prst="rect">
            <a:avLst/>
          </a:prstGeom>
        </p:spPr>
      </p:pic>
      <p:sp>
        <p:nvSpPr>
          <p:cNvPr id="16" name="TextBox 15"/>
          <p:cNvSpPr txBox="1"/>
          <p:nvPr/>
        </p:nvSpPr>
        <p:spPr>
          <a:xfrm>
            <a:off x="6144768" y="1645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Simplified</a:t>
            </a:r>
          </a:p>
        </p:txBody>
      </p:sp>
      <p:sp>
        <p:nvSpPr>
          <p:cNvPr id="17" name="TextBox 16"/>
          <p:cNvSpPr txBox="1"/>
          <p:nvPr/>
        </p:nvSpPr>
        <p:spPr>
          <a:xfrm>
            <a:off x="5715000" y="2148840"/>
            <a:ext cx="1920240" cy="548640"/>
          </a:xfrm>
          <a:prstGeom prst="rect">
            <a:avLst/>
          </a:prstGeom>
          <a:noFill/>
        </p:spPr>
        <p:txBody>
          <a:bodyPr wrap="square" lIns="0" rIns="0" tIns="0" bIns="0" anchor="ctr">
            <a:spAutoFit/>
          </a:bodyPr>
          <a:lstStyle/>
          <a:p>
            <a:pPr algn="l"/>
            <a:r>
              <a:rPr sz="3400" b="1" i="0">
                <a:solidFill>
                  <a:srgbClr val="FFFFFF"/>
                </a:solidFill>
                <a:latin typeface="Calibri"/>
              </a:rPr>
              <a:t>7 roles</a:t>
            </a:r>
          </a:p>
        </p:txBody>
      </p:sp>
      <p:sp>
        <p:nvSpPr>
          <p:cNvPr id="18" name="TextBox 17"/>
          <p:cNvSpPr txBox="1"/>
          <p:nvPr/>
        </p:nvSpPr>
        <p:spPr>
          <a:xfrm>
            <a:off x="5715000" y="2788920"/>
            <a:ext cx="1874520" cy="594360"/>
          </a:xfrm>
          <a:prstGeom prst="rect">
            <a:avLst/>
          </a:prstGeom>
          <a:noFill/>
        </p:spPr>
        <p:txBody>
          <a:bodyPr wrap="square" lIns="0" rIns="0" tIns="0" bIns="0" anchor="t">
            <a:spAutoFit/>
          </a:bodyPr>
          <a:lstStyle/>
          <a:p>
            <a:pPr algn="l"/>
            <a:r>
              <a:rPr sz="1200" b="0" i="0">
                <a:solidFill>
                  <a:srgbClr val="A0A0A0"/>
                </a:solidFill>
                <a:latin typeface="Calibri"/>
              </a:rPr>
              <a:t>and one watch tap to approve</a:t>
            </a:r>
          </a:p>
        </p:txBody>
      </p:sp>
      <p:sp>
        <p:nvSpPr>
          <p:cNvPr id="19" name="Rounded Rectangle 18"/>
          <p:cNvSpPr/>
          <p:nvPr/>
        </p:nvSpPr>
        <p:spPr>
          <a:xfrm>
            <a:off x="548640" y="3703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lock icon"/>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7240" y="3931920"/>
            <a:ext cx="329184" cy="329184"/>
          </a:xfrm>
          <a:prstGeom prst="rect">
            <a:avLst/>
          </a:prstGeom>
        </p:spPr>
      </p:pic>
      <p:sp>
        <p:nvSpPr>
          <p:cNvPr id="21" name="TextBox 20"/>
          <p:cNvSpPr txBox="1"/>
          <p:nvPr/>
        </p:nvSpPr>
        <p:spPr>
          <a:xfrm>
            <a:off x="1207008" y="3931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Time</a:t>
            </a:r>
          </a:p>
        </p:txBody>
      </p:sp>
      <p:sp>
        <p:nvSpPr>
          <p:cNvPr id="22" name="TextBox 21"/>
          <p:cNvSpPr txBox="1"/>
          <p:nvPr/>
        </p:nvSpPr>
        <p:spPr>
          <a:xfrm>
            <a:off x="777240" y="4434840"/>
            <a:ext cx="1920240" cy="548640"/>
          </a:xfrm>
          <a:prstGeom prst="rect">
            <a:avLst/>
          </a:prstGeom>
          <a:noFill/>
        </p:spPr>
        <p:txBody>
          <a:bodyPr wrap="square" lIns="0" rIns="0" tIns="0" bIns="0" anchor="ctr">
            <a:spAutoFit/>
          </a:bodyPr>
          <a:lstStyle/>
          <a:p>
            <a:pPr algn="l"/>
            <a:r>
              <a:rPr sz="2200" b="1" i="0">
                <a:solidFill>
                  <a:srgbClr val="FFFFFF"/>
                </a:solidFill>
                <a:latin typeface="Calibri"/>
              </a:rPr>
              <a:t>807 s → 255 s</a:t>
            </a:r>
          </a:p>
        </p:txBody>
      </p:sp>
      <p:sp>
        <p:nvSpPr>
          <p:cNvPr id="23" name="TextBox 22"/>
          <p:cNvSpPr txBox="1"/>
          <p:nvPr/>
        </p:nvSpPr>
        <p:spPr>
          <a:xfrm>
            <a:off x="777240" y="5074920"/>
            <a:ext cx="1874520" cy="594360"/>
          </a:xfrm>
          <a:prstGeom prst="rect">
            <a:avLst/>
          </a:prstGeom>
          <a:noFill/>
        </p:spPr>
        <p:txBody>
          <a:bodyPr wrap="square" lIns="0" rIns="0" tIns="0" bIns="0" anchor="t">
            <a:spAutoFit/>
          </a:bodyPr>
          <a:lstStyle/>
          <a:p>
            <a:pPr algn="l"/>
            <a:r>
              <a:rPr sz="1200" b="0" i="0">
                <a:solidFill>
                  <a:srgbClr val="A0A0A0"/>
                </a:solidFill>
                <a:latin typeface="Calibri"/>
              </a:rPr>
              <a:t>memory gate on 60 emails</a:t>
            </a:r>
          </a:p>
        </p:txBody>
      </p:sp>
      <p:sp>
        <p:nvSpPr>
          <p:cNvPr id="24" name="Rounded Rectangle 23"/>
          <p:cNvSpPr/>
          <p:nvPr/>
        </p:nvSpPr>
        <p:spPr>
          <a:xfrm>
            <a:off x="3017520" y="3703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zap icon"/>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46120" y="3931920"/>
            <a:ext cx="329184" cy="329184"/>
          </a:xfrm>
          <a:prstGeom prst="rect">
            <a:avLst/>
          </a:prstGeom>
        </p:spPr>
      </p:pic>
      <p:sp>
        <p:nvSpPr>
          <p:cNvPr id="26" name="TextBox 25"/>
          <p:cNvSpPr txBox="1"/>
          <p:nvPr/>
        </p:nvSpPr>
        <p:spPr>
          <a:xfrm>
            <a:off x="3675888" y="3931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Cost</a:t>
            </a:r>
          </a:p>
        </p:txBody>
      </p:sp>
      <p:sp>
        <p:nvSpPr>
          <p:cNvPr id="27" name="TextBox 26"/>
          <p:cNvSpPr txBox="1"/>
          <p:nvPr/>
        </p:nvSpPr>
        <p:spPr>
          <a:xfrm>
            <a:off x="3246120" y="4434840"/>
            <a:ext cx="1920240" cy="548640"/>
          </a:xfrm>
          <a:prstGeom prst="rect">
            <a:avLst/>
          </a:prstGeom>
          <a:noFill/>
        </p:spPr>
        <p:txBody>
          <a:bodyPr wrap="square" lIns="0" rIns="0" tIns="0" bIns="0" anchor="ctr">
            <a:spAutoFit/>
          </a:bodyPr>
          <a:lstStyle/>
          <a:p>
            <a:pPr algn="l"/>
            <a:r>
              <a:rPr sz="3400" b="1" i="0">
                <a:solidFill>
                  <a:srgbClr val="FFFFFF"/>
                </a:solidFill>
                <a:latin typeface="Calibri"/>
              </a:rPr>
              <a:t>3–5×</a:t>
            </a:r>
          </a:p>
        </p:txBody>
      </p:sp>
      <p:sp>
        <p:nvSpPr>
          <p:cNvPr id="28" name="TextBox 27"/>
          <p:cNvSpPr txBox="1"/>
          <p:nvPr/>
        </p:nvSpPr>
        <p:spPr>
          <a:xfrm>
            <a:off x="3246120" y="5074920"/>
            <a:ext cx="1874520" cy="594360"/>
          </a:xfrm>
          <a:prstGeom prst="rect">
            <a:avLst/>
          </a:prstGeom>
          <a:noFill/>
        </p:spPr>
        <p:txBody>
          <a:bodyPr wrap="square" lIns="0" rIns="0" tIns="0" bIns="0" anchor="t">
            <a:spAutoFit/>
          </a:bodyPr>
          <a:lstStyle/>
          <a:p>
            <a:pPr algn="l"/>
            <a:r>
              <a:rPr sz="1200" b="0" i="0">
                <a:solidFill>
                  <a:srgbClr val="A0A0A0"/>
                </a:solidFill>
                <a:latin typeface="Calibri"/>
              </a:rPr>
              <a:t>faster than the 14B · 934 MB · no API costs</a:t>
            </a:r>
          </a:p>
        </p:txBody>
      </p:sp>
      <p:sp>
        <p:nvSpPr>
          <p:cNvPr id="29" name="Rounded Rectangle 28"/>
          <p:cNvSpPr/>
          <p:nvPr/>
        </p:nvSpPr>
        <p:spPr>
          <a:xfrm>
            <a:off x="5486400" y="3703320"/>
            <a:ext cx="2286000" cy="2103120"/>
          </a:xfrm>
          <a:prstGeom prst="roundRect">
            <a:avLst>
              <a:gd name="adj" fmla="val 521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target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15000" y="3931920"/>
            <a:ext cx="329184" cy="329184"/>
          </a:xfrm>
          <a:prstGeom prst="rect">
            <a:avLst/>
          </a:prstGeom>
        </p:spPr>
      </p:pic>
      <p:sp>
        <p:nvSpPr>
          <p:cNvPr id="31" name="TextBox 30"/>
          <p:cNvSpPr txBox="1"/>
          <p:nvPr/>
        </p:nvSpPr>
        <p:spPr>
          <a:xfrm>
            <a:off x="6144768" y="3931920"/>
            <a:ext cx="1463040" cy="329184"/>
          </a:xfrm>
          <a:prstGeom prst="rect">
            <a:avLst/>
          </a:prstGeom>
          <a:noFill/>
        </p:spPr>
        <p:txBody>
          <a:bodyPr wrap="square" lIns="0" rIns="0" tIns="0" bIns="0" anchor="ctr">
            <a:spAutoFit/>
          </a:bodyPr>
          <a:lstStyle/>
          <a:p>
            <a:pPr algn="l"/>
            <a:r>
              <a:rPr sz="1300" b="1" i="0">
                <a:solidFill>
                  <a:srgbClr val="A0A0A0"/>
                </a:solidFill>
                <a:latin typeface="Calibri"/>
              </a:rPr>
              <a:t>Accuracy</a:t>
            </a:r>
          </a:p>
        </p:txBody>
      </p:sp>
      <p:sp>
        <p:nvSpPr>
          <p:cNvPr id="32" name="TextBox 31"/>
          <p:cNvSpPr txBox="1"/>
          <p:nvPr/>
        </p:nvSpPr>
        <p:spPr>
          <a:xfrm>
            <a:off x="5715000" y="4434840"/>
            <a:ext cx="1920240" cy="548640"/>
          </a:xfrm>
          <a:prstGeom prst="rect">
            <a:avLst/>
          </a:prstGeom>
          <a:noFill/>
        </p:spPr>
        <p:txBody>
          <a:bodyPr wrap="square" lIns="0" rIns="0" tIns="0" bIns="0" anchor="ctr">
            <a:spAutoFit/>
          </a:bodyPr>
          <a:lstStyle/>
          <a:p>
            <a:pPr algn="l"/>
            <a:r>
              <a:rPr sz="2200" b="1" i="0">
                <a:solidFill>
                  <a:srgbClr val="FFFFFF"/>
                </a:solidFill>
                <a:latin typeface="Calibri"/>
              </a:rPr>
              <a:t>40.0% → 6.7%</a:t>
            </a:r>
          </a:p>
        </p:txBody>
      </p:sp>
      <p:sp>
        <p:nvSpPr>
          <p:cNvPr id="33" name="TextBox 32"/>
          <p:cNvSpPr txBox="1"/>
          <p:nvPr/>
        </p:nvSpPr>
        <p:spPr>
          <a:xfrm>
            <a:off x="5715000" y="5074920"/>
            <a:ext cx="1874520" cy="594360"/>
          </a:xfrm>
          <a:prstGeom prst="rect">
            <a:avLst/>
          </a:prstGeom>
          <a:noFill/>
        </p:spPr>
        <p:txBody>
          <a:bodyPr wrap="square" lIns="0" rIns="0" tIns="0" bIns="0" anchor="t">
            <a:spAutoFit/>
          </a:bodyPr>
          <a:lstStyle/>
          <a:p>
            <a:pPr algn="l"/>
            <a:r>
              <a:rPr sz="1200" b="0" i="0">
                <a:solidFill>
                  <a:srgbClr val="A0A0A0"/>
                </a:solidFill>
                <a:latin typeface="Calibri"/>
              </a:rPr>
              <a:t>harmful side effects on 60 sandbox tasks</a:t>
            </a:r>
          </a:p>
        </p:txBody>
      </p:sp>
      <p:sp>
        <p:nvSpPr>
          <p:cNvPr id="34" name="Rounded Rectangle 33"/>
          <p:cNvSpPr/>
          <p:nvPr/>
        </p:nvSpPr>
        <p:spPr>
          <a:xfrm>
            <a:off x="7863840" y="1417320"/>
            <a:ext cx="3776472" cy="4389120"/>
          </a:xfrm>
          <a:prstGeom prst="roundRect">
            <a:avLst>
              <a:gd name="adj" fmla="val 2905"/>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TAM SAM SOM" descr="tam_sam_som.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229600" y="1536192"/>
            <a:ext cx="3044952" cy="2283714"/>
          </a:xfrm>
          <a:prstGeom prst="rect">
            <a:avLst/>
          </a:prstGeom>
        </p:spPr>
      </p:pic>
      <p:sp>
        <p:nvSpPr>
          <p:cNvPr id="36" name="TextBox 35"/>
          <p:cNvSpPr txBox="1"/>
          <p:nvPr/>
        </p:nvSpPr>
        <p:spPr>
          <a:xfrm>
            <a:off x="8092440" y="3886200"/>
            <a:ext cx="3337560" cy="1828800"/>
          </a:xfrm>
          <a:prstGeom prst="rect">
            <a:avLst/>
          </a:prstGeom>
          <a:noFill/>
        </p:spPr>
        <p:txBody>
          <a:bodyPr wrap="square" lIns="0" rIns="0" tIns="0" bIns="0" anchor="t">
            <a:spAutoFit/>
          </a:bodyPr>
          <a:lstStyle/>
          <a:p>
            <a:pPr algn="l">
              <a:spcAft>
                <a:spcPts val="400"/>
              </a:spcAft>
            </a:pPr>
            <a:r>
              <a:rPr sz="900" b="1" i="0">
                <a:solidFill>
                  <a:srgbClr val="FFFFFF"/>
                </a:solidFill>
                <a:latin typeface="Calibri"/>
              </a:rPr>
              <a:t>TAM  </a:t>
            </a:r>
            <a:r>
              <a:rPr sz="900" b="0" i="0">
                <a:solidFill>
                  <a:srgbClr val="A0A0A0"/>
                </a:solidFill>
                <a:latin typeface="Calibri"/>
              </a:rPr>
              <a:t>1.14B knowledge workers × 75% using AI = 855M × ₹23,988/yr ≈ ₹20.5 lakh crore</a:t>
            </a:r>
          </a:p>
          <a:p>
            <a:pPr algn="l">
              <a:spcAft>
                <a:spcPts val="400"/>
              </a:spcAft>
            </a:pPr>
            <a:r>
              <a:rPr sz="900" b="1" i="0">
                <a:solidFill>
                  <a:srgbClr val="FFFFFF"/>
                </a:solidFill>
                <a:latin typeface="Calibri"/>
              </a:rPr>
              <a:t>SAM  </a:t>
            </a:r>
            <a:r>
              <a:rPr sz="900" b="0" i="0">
                <a:solidFill>
                  <a:srgbClr val="A0A0A0"/>
                </a:solidFill>
                <a:latin typeface="Calibri"/>
              </a:rPr>
              <a:t>India's advocates, CAs, doctors and startups: 40.2 lakh × 92% using AI = 3.70M × ₹23,988 ≈ ₹8,872 crore</a:t>
            </a:r>
          </a:p>
          <a:p>
            <a:pPr algn="l">
              <a:spcAft>
                <a:spcPts val="400"/>
              </a:spcAft>
            </a:pPr>
            <a:r>
              <a:rPr sz="900" b="1" i="0">
                <a:solidFill>
                  <a:srgbClr val="F5B301"/>
                </a:solidFill>
                <a:latin typeface="Calibri"/>
              </a:rPr>
              <a:t>SOM  </a:t>
            </a:r>
            <a:r>
              <a:rPr sz="900" b="0" i="0">
                <a:solidFill>
                  <a:srgbClr val="A0A0A0"/>
                </a:solidFill>
                <a:latin typeface="Calibri"/>
              </a:rPr>
              <a:t>1% of SAM in 3 years (our assumption) = 36,984 × ₹23,988 ≈ ₹88.7 crore</a:t>
            </a:r>
          </a:p>
          <a:p>
            <a:pPr algn="l">
              <a:spcAft>
                <a:spcPts val="400"/>
              </a:spcAft>
            </a:pPr>
            <a:r>
              <a:rPr sz="850" b="0" i="0">
                <a:solidFill>
                  <a:srgbClr val="5A5A5A"/>
                </a:solidFill>
                <a:latin typeface="Calibri"/>
              </a:rPr>
              <a:t>Price benchmark: ChatGPT Plus in India, ₹1,999/month. Sources on slide 8.</a:t>
            </a:r>
          </a:p>
        </p:txBody>
      </p:sp>
      <p:sp>
        <p:nvSpPr>
          <p:cNvPr id="37"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C.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Feasible today, </a:t>
            </a:r>
            <a:r>
              <a:rPr sz="3600" b="0" i="0">
                <a:solidFill>
                  <a:srgbClr val="FFFFFF"/>
                </a:solidFill>
                <a:latin typeface="Calibri"/>
              </a:rPr>
              <a:t>on one laptop.</a:t>
            </a:r>
          </a:p>
        </p:txBody>
      </p:sp>
      <p:sp>
        <p:nvSpPr>
          <p:cNvPr id="4" name="Rounded Rectangle 3"/>
          <p:cNvSpPr/>
          <p:nvPr/>
        </p:nvSpPr>
        <p:spPr>
          <a:xfrm>
            <a:off x="548640" y="1417320"/>
            <a:ext cx="3017520" cy="3840480"/>
          </a:xfrm>
          <a:prstGeom prst="roundRect">
            <a:avLst>
              <a:gd name="adj" fmla="val 3636"/>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pu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240" y="1645920"/>
            <a:ext cx="329184" cy="329184"/>
          </a:xfrm>
          <a:prstGeom prst="rect">
            <a:avLst/>
          </a:prstGeom>
        </p:spPr>
      </p:pic>
      <p:sp>
        <p:nvSpPr>
          <p:cNvPr id="6" name="TextBox 5"/>
          <p:cNvSpPr txBox="1"/>
          <p:nvPr/>
        </p:nvSpPr>
        <p:spPr>
          <a:xfrm>
            <a:off x="1207008" y="1645920"/>
            <a:ext cx="2103120" cy="329184"/>
          </a:xfrm>
          <a:prstGeom prst="rect">
            <a:avLst/>
          </a:prstGeom>
          <a:noFill/>
        </p:spPr>
        <p:txBody>
          <a:bodyPr wrap="square" lIns="0" rIns="0" tIns="0" bIns="0" anchor="ctr">
            <a:spAutoFit/>
          </a:bodyPr>
          <a:lstStyle/>
          <a:p>
            <a:pPr algn="l"/>
            <a:r>
              <a:rPr sz="1500" b="1" i="0">
                <a:solidFill>
                  <a:srgbClr val="FFFFFF"/>
                </a:solidFill>
                <a:latin typeface="Calibri"/>
              </a:rPr>
              <a:t>Compute</a:t>
            </a:r>
          </a:p>
        </p:txBody>
      </p:sp>
      <p:sp>
        <p:nvSpPr>
          <p:cNvPr id="7" name="TextBox 6"/>
          <p:cNvSpPr txBox="1"/>
          <p:nvPr/>
        </p:nvSpPr>
        <p:spPr>
          <a:xfrm>
            <a:off x="777240" y="2194560"/>
            <a:ext cx="2560320" cy="594360"/>
          </a:xfrm>
          <a:prstGeom prst="rect">
            <a:avLst/>
          </a:prstGeom>
          <a:noFill/>
        </p:spPr>
        <p:txBody>
          <a:bodyPr wrap="square" lIns="0" rIns="0" tIns="0" bIns="0" anchor="ctr">
            <a:spAutoFit/>
          </a:bodyPr>
          <a:lstStyle/>
          <a:p>
            <a:pPr algn="l"/>
            <a:r>
              <a:rPr sz="4000" b="1" i="0">
                <a:solidFill>
                  <a:srgbClr val="FFFFFF"/>
                </a:solidFill>
                <a:latin typeface="Calibri"/>
              </a:rPr>
              <a:t>24 GB</a:t>
            </a:r>
          </a:p>
        </p:txBody>
      </p:sp>
      <p:sp>
        <p:nvSpPr>
          <p:cNvPr id="8" name="TextBox 7"/>
          <p:cNvSpPr txBox="1"/>
          <p:nvPr/>
        </p:nvSpPr>
        <p:spPr>
          <a:xfrm>
            <a:off x="777240" y="2788920"/>
            <a:ext cx="2560320" cy="274320"/>
          </a:xfrm>
          <a:prstGeom prst="rect">
            <a:avLst/>
          </a:prstGeom>
          <a:noFill/>
        </p:spPr>
        <p:txBody>
          <a:bodyPr wrap="square" lIns="0" rIns="0" tIns="0" bIns="0" anchor="t">
            <a:spAutoFit/>
          </a:bodyPr>
          <a:lstStyle/>
          <a:p>
            <a:pPr algn="l"/>
            <a:r>
              <a:rPr sz="1200" b="0" i="0">
                <a:solidFill>
                  <a:srgbClr val="A0A0A0"/>
                </a:solidFill>
                <a:latin typeface="Calibri"/>
              </a:rPr>
              <a:t>one MacBook Pro, Apple M5 Pro</a:t>
            </a:r>
          </a:p>
        </p:txBody>
      </p:sp>
      <p:sp>
        <p:nvSpPr>
          <p:cNvPr id="9" name="TextBox 8"/>
          <p:cNvSpPr txBox="1"/>
          <p:nvPr/>
        </p:nvSpPr>
        <p:spPr>
          <a:xfrm>
            <a:off x="777240" y="3337560"/>
            <a:ext cx="2560320" cy="411480"/>
          </a:xfrm>
          <a:prstGeom prst="rect">
            <a:avLst/>
          </a:prstGeom>
          <a:noFill/>
        </p:spPr>
        <p:txBody>
          <a:bodyPr wrap="square" lIns="0" rIns="0" tIns="0" bIns="0" anchor="ctr">
            <a:spAutoFit/>
          </a:bodyPr>
          <a:lstStyle/>
          <a:p>
            <a:pPr algn="l"/>
            <a:r>
              <a:rPr sz="2400" b="1" i="0">
                <a:solidFill>
                  <a:srgbClr val="FFFFFF"/>
                </a:solidFill>
                <a:latin typeface="Calibri"/>
              </a:rPr>
              <a:t>934 MB</a:t>
            </a:r>
          </a:p>
        </p:txBody>
      </p:sp>
      <p:sp>
        <p:nvSpPr>
          <p:cNvPr id="10" name="TextBox 9"/>
          <p:cNvSpPr txBox="1"/>
          <p:nvPr/>
        </p:nvSpPr>
        <p:spPr>
          <a:xfrm>
            <a:off x="777240" y="3767328"/>
            <a:ext cx="2560320" cy="274320"/>
          </a:xfrm>
          <a:prstGeom prst="rect">
            <a:avLst/>
          </a:prstGeom>
          <a:noFill/>
        </p:spPr>
        <p:txBody>
          <a:bodyPr wrap="square" lIns="0" rIns="0" tIns="0" bIns="0" anchor="t">
            <a:spAutoFit/>
          </a:bodyPr>
          <a:lstStyle/>
          <a:p>
            <a:pPr algn="l"/>
            <a:r>
              <a:rPr sz="1200" b="0" i="0">
                <a:solidFill>
                  <a:srgbClr val="A0A0A0"/>
                </a:solidFill>
                <a:latin typeface="Calibri"/>
              </a:rPr>
              <a:t>fused 4-bit judge</a:t>
            </a:r>
          </a:p>
        </p:txBody>
      </p:sp>
      <p:sp>
        <p:nvSpPr>
          <p:cNvPr id="11" name="TextBox 10"/>
          <p:cNvSpPr txBox="1"/>
          <p:nvPr/>
        </p:nvSpPr>
        <p:spPr>
          <a:xfrm>
            <a:off x="777240" y="4206240"/>
            <a:ext cx="2560320" cy="411480"/>
          </a:xfrm>
          <a:prstGeom prst="rect">
            <a:avLst/>
          </a:prstGeom>
          <a:noFill/>
        </p:spPr>
        <p:txBody>
          <a:bodyPr wrap="square" lIns="0" rIns="0" tIns="0" bIns="0" anchor="ctr">
            <a:spAutoFit/>
          </a:bodyPr>
          <a:lstStyle/>
          <a:p>
            <a:pPr algn="l"/>
            <a:r>
              <a:rPr sz="2400" b="1" i="0">
                <a:solidFill>
                  <a:srgbClr val="FFFFFF"/>
                </a:solidFill>
                <a:latin typeface="Calibri"/>
              </a:rPr>
              <a:t>54 min</a:t>
            </a:r>
          </a:p>
        </p:txBody>
      </p:sp>
      <p:sp>
        <p:nvSpPr>
          <p:cNvPr id="12" name="TextBox 11"/>
          <p:cNvSpPr txBox="1"/>
          <p:nvPr/>
        </p:nvSpPr>
        <p:spPr>
          <a:xfrm>
            <a:off x="777240" y="4636008"/>
            <a:ext cx="2560320" cy="274320"/>
          </a:xfrm>
          <a:prstGeom prst="rect">
            <a:avLst/>
          </a:prstGeom>
          <a:noFill/>
        </p:spPr>
        <p:txBody>
          <a:bodyPr wrap="square" lIns="0" rIns="0" tIns="0" bIns="0" anchor="t">
            <a:spAutoFit/>
          </a:bodyPr>
          <a:lstStyle/>
          <a:p>
            <a:pPr algn="l"/>
            <a:r>
              <a:rPr sz="1200" b="0" i="0">
                <a:solidFill>
                  <a:srgbClr val="A0A0A0"/>
                </a:solidFill>
                <a:latin typeface="Calibri"/>
              </a:rPr>
              <a:t>LoRA training · 18 GB peak</a:t>
            </a:r>
          </a:p>
        </p:txBody>
      </p:sp>
      <p:sp>
        <p:nvSpPr>
          <p:cNvPr id="13" name="Rounded Rectangle 12"/>
          <p:cNvSpPr/>
          <p:nvPr/>
        </p:nvSpPr>
        <p:spPr>
          <a:xfrm>
            <a:off x="3749040" y="1417320"/>
            <a:ext cx="4572000" cy="3840480"/>
          </a:xfrm>
          <a:prstGeom prst="roundRect">
            <a:avLst>
              <a:gd name="adj" fmla="val 2857"/>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auge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77640" y="1645920"/>
            <a:ext cx="329184" cy="329184"/>
          </a:xfrm>
          <a:prstGeom prst="rect">
            <a:avLst/>
          </a:prstGeom>
        </p:spPr>
      </p:pic>
      <p:sp>
        <p:nvSpPr>
          <p:cNvPr id="15" name="TextBox 14"/>
          <p:cNvSpPr txBox="1"/>
          <p:nvPr/>
        </p:nvSpPr>
        <p:spPr>
          <a:xfrm>
            <a:off x="4407408" y="1645920"/>
            <a:ext cx="3657600" cy="329184"/>
          </a:xfrm>
          <a:prstGeom prst="rect">
            <a:avLst/>
          </a:prstGeom>
          <a:noFill/>
        </p:spPr>
        <p:txBody>
          <a:bodyPr wrap="square" lIns="0" rIns="0" tIns="0" bIns="0" anchor="ctr">
            <a:spAutoFit/>
          </a:bodyPr>
          <a:lstStyle/>
          <a:p>
            <a:pPr algn="l"/>
            <a:r>
              <a:rPr sz="1500" b="1" i="0">
                <a:solidFill>
                  <a:srgbClr val="FFFFFF"/>
                </a:solidFill>
                <a:latin typeface="Calibri"/>
              </a:rPr>
              <a:t>Brain latency  </a:t>
            </a:r>
            <a:r>
              <a:rPr sz="1100" b="0" i="0">
                <a:solidFill>
                  <a:srgbClr val="A0A0A0"/>
                </a:solidFill>
                <a:latin typeface="Calibri"/>
              </a:rPr>
              <a:t>log scale</a:t>
            </a:r>
          </a:p>
        </p:txBody>
      </p:sp>
      <p:graphicFrame>
        <p:nvGraphicFramePr>
          <p:cNvPr id="16" name="Latency chart"/>
          <p:cNvGraphicFramePr>
            <a:graphicFrameLocks noGrp="1"/>
          </p:cNvGraphicFramePr>
          <p:nvPr/>
        </p:nvGraphicFramePr>
        <p:xfrm>
          <a:off x="3886200" y="2075688"/>
          <a:ext cx="4297680" cy="3063240"/>
        </p:xfrm>
        <a:graphic>
          <a:graphicData uri="http://schemas.openxmlformats.org/drawingml/2006/chart">
            <c:chart xmlns:c="http://schemas.openxmlformats.org/drawingml/2006/chart" r:id="rId7"/>
          </a:graphicData>
        </a:graphic>
      </p:graphicFrame>
      <p:sp>
        <p:nvSpPr>
          <p:cNvPr id="17" name="Rounded Rectangle 16"/>
          <p:cNvSpPr/>
          <p:nvPr/>
        </p:nvSpPr>
        <p:spPr>
          <a:xfrm>
            <a:off x="8503920" y="1417320"/>
            <a:ext cx="3136392" cy="3840480"/>
          </a:xfrm>
          <a:prstGeom prst="roundRect">
            <a:avLst>
              <a:gd name="adj" fmla="val 3498"/>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hield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32520" y="1645920"/>
            <a:ext cx="329184" cy="329184"/>
          </a:xfrm>
          <a:prstGeom prst="rect">
            <a:avLst/>
          </a:prstGeom>
        </p:spPr>
      </p:pic>
      <p:sp>
        <p:nvSpPr>
          <p:cNvPr id="19" name="TextBox 18"/>
          <p:cNvSpPr txBox="1"/>
          <p:nvPr/>
        </p:nvSpPr>
        <p:spPr>
          <a:xfrm>
            <a:off x="9162288" y="1645920"/>
            <a:ext cx="2194560" cy="329184"/>
          </a:xfrm>
          <a:prstGeom prst="rect">
            <a:avLst/>
          </a:prstGeom>
          <a:noFill/>
        </p:spPr>
        <p:txBody>
          <a:bodyPr wrap="square" lIns="0" rIns="0" tIns="0" bIns="0" anchor="ctr">
            <a:spAutoFit/>
          </a:bodyPr>
          <a:lstStyle/>
          <a:p>
            <a:pPr algn="l"/>
            <a:r>
              <a:rPr sz="1500" b="1" i="0">
                <a:solidFill>
                  <a:srgbClr val="FFFFFF"/>
                </a:solidFill>
                <a:latin typeface="Calibri"/>
              </a:rPr>
              <a:t>Privacy</a:t>
            </a:r>
          </a:p>
        </p:txBody>
      </p:sp>
      <p:pic>
        <p:nvPicPr>
          <p:cNvPr id="20" name="Picture 19" descr="cloudoff icon"/>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59952" y="2276856"/>
            <a:ext cx="256032" cy="256032"/>
          </a:xfrm>
          <a:prstGeom prst="rect">
            <a:avLst/>
          </a:prstGeom>
        </p:spPr>
      </p:pic>
      <p:sp>
        <p:nvSpPr>
          <p:cNvPr id="21" name="TextBox 20"/>
          <p:cNvSpPr txBox="1"/>
          <p:nvPr/>
        </p:nvSpPr>
        <p:spPr>
          <a:xfrm>
            <a:off x="9162288" y="2240280"/>
            <a:ext cx="2267712" cy="329184"/>
          </a:xfrm>
          <a:prstGeom prst="rect">
            <a:avLst/>
          </a:prstGeom>
          <a:noFill/>
        </p:spPr>
        <p:txBody>
          <a:bodyPr wrap="square" lIns="0" rIns="0" tIns="0" bIns="0" anchor="ctr">
            <a:spAutoFit/>
          </a:bodyPr>
          <a:lstStyle/>
          <a:p>
            <a:pPr algn="l"/>
            <a:r>
              <a:rPr sz="1400" b="0" i="0">
                <a:solidFill>
                  <a:srgbClr val="E6E6E6"/>
                </a:solidFill>
                <a:latin typeface="Calibri"/>
              </a:rPr>
              <a:t>Zero cloud calls</a:t>
            </a:r>
          </a:p>
        </p:txBody>
      </p:sp>
      <p:pic>
        <p:nvPicPr>
          <p:cNvPr id="22" name="Picture 21" descr="layers icon"/>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59952" y="2734056"/>
            <a:ext cx="256032" cy="256032"/>
          </a:xfrm>
          <a:prstGeom prst="rect">
            <a:avLst/>
          </a:prstGeom>
        </p:spPr>
      </p:pic>
      <p:sp>
        <p:nvSpPr>
          <p:cNvPr id="23" name="TextBox 22"/>
          <p:cNvSpPr txBox="1"/>
          <p:nvPr/>
        </p:nvSpPr>
        <p:spPr>
          <a:xfrm>
            <a:off x="9162288" y="2697480"/>
            <a:ext cx="2267712" cy="329184"/>
          </a:xfrm>
          <a:prstGeom prst="rect">
            <a:avLst/>
          </a:prstGeom>
          <a:noFill/>
        </p:spPr>
        <p:txBody>
          <a:bodyPr wrap="square" lIns="0" rIns="0" tIns="0" bIns="0" anchor="ctr">
            <a:spAutoFit/>
          </a:bodyPr>
          <a:lstStyle/>
          <a:p>
            <a:pPr algn="l"/>
            <a:r>
              <a:rPr sz="1400" b="0" i="0">
                <a:solidFill>
                  <a:srgbClr val="E6E6E6"/>
                </a:solidFill>
                <a:latin typeface="Calibri"/>
              </a:rPr>
              <a:t>Hash-chained ledger</a:t>
            </a:r>
          </a:p>
        </p:txBody>
      </p:sp>
      <p:pic>
        <p:nvPicPr>
          <p:cNvPr id="24" name="Picture 23" descr="book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759952" y="3191256"/>
            <a:ext cx="256032" cy="256032"/>
          </a:xfrm>
          <a:prstGeom prst="rect">
            <a:avLst/>
          </a:prstGeom>
        </p:spPr>
      </p:pic>
      <p:sp>
        <p:nvSpPr>
          <p:cNvPr id="25" name="TextBox 24"/>
          <p:cNvSpPr txBox="1"/>
          <p:nvPr/>
        </p:nvSpPr>
        <p:spPr>
          <a:xfrm>
            <a:off x="9162288" y="3154680"/>
            <a:ext cx="2267712" cy="329184"/>
          </a:xfrm>
          <a:prstGeom prst="rect">
            <a:avLst/>
          </a:prstGeom>
          <a:noFill/>
        </p:spPr>
        <p:txBody>
          <a:bodyPr wrap="square" lIns="0" rIns="0" tIns="0" bIns="0" anchor="ctr">
            <a:spAutoFit/>
          </a:bodyPr>
          <a:lstStyle/>
          <a:p>
            <a:pPr algn="l"/>
            <a:r>
              <a:rPr sz="1400" b="0" i="0">
                <a:solidFill>
                  <a:srgbClr val="E6E6E6"/>
                </a:solidFill>
                <a:latin typeface="Calibri"/>
              </a:rPr>
              <a:t>DPDP-ready</a:t>
            </a:r>
          </a:p>
        </p:txBody>
      </p:sp>
      <p:sp>
        <p:nvSpPr>
          <p:cNvPr id="26" name="Rounded Rectangle 25"/>
          <p:cNvSpPr/>
          <p:nvPr/>
        </p:nvSpPr>
        <p:spPr>
          <a:xfrm>
            <a:off x="8705088" y="3749040"/>
            <a:ext cx="2734056" cy="1280160"/>
          </a:xfrm>
          <a:prstGeom prst="roundRect">
            <a:avLst>
              <a:gd name="adj" fmla="val 8571"/>
            </a:avLst>
          </a:prstGeom>
          <a:solidFill>
            <a:srgbClr val="000000"/>
          </a:solidFill>
          <a:ln w="12700">
            <a:solidFill>
              <a:srgbClr val="F5B3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869680" y="3867912"/>
            <a:ext cx="2404872" cy="457200"/>
          </a:xfrm>
          <a:prstGeom prst="rect">
            <a:avLst/>
          </a:prstGeom>
          <a:noFill/>
        </p:spPr>
        <p:txBody>
          <a:bodyPr wrap="square" lIns="0" rIns="0" tIns="0" bIns="0" anchor="ctr">
            <a:spAutoFit/>
          </a:bodyPr>
          <a:lstStyle/>
          <a:p>
            <a:pPr algn="l"/>
            <a:r>
              <a:rPr sz="2200" b="1" i="0">
                <a:solidFill>
                  <a:srgbClr val="F5B301"/>
                </a:solidFill>
                <a:latin typeface="Calibri"/>
              </a:rPr>
              <a:t>up to ₹250 crore</a:t>
            </a:r>
          </a:p>
        </p:txBody>
      </p:sp>
      <p:sp>
        <p:nvSpPr>
          <p:cNvPr id="28" name="TextBox 27"/>
          <p:cNvSpPr txBox="1"/>
          <p:nvPr/>
        </p:nvSpPr>
        <p:spPr>
          <a:xfrm>
            <a:off x="8869680" y="4343400"/>
            <a:ext cx="2404872" cy="548640"/>
          </a:xfrm>
          <a:prstGeom prst="rect">
            <a:avLst/>
          </a:prstGeom>
          <a:noFill/>
        </p:spPr>
        <p:txBody>
          <a:bodyPr wrap="square" lIns="0" rIns="0" tIns="0" bIns="0" anchor="t">
            <a:spAutoFit/>
          </a:bodyPr>
          <a:lstStyle/>
          <a:p>
            <a:pPr algn="l"/>
            <a:r>
              <a:rPr sz="1150" b="0" i="0">
                <a:solidFill>
                  <a:srgbClr val="A0A0A0"/>
                </a:solidFill>
                <a:latin typeface="Calibri"/>
              </a:rPr>
              <a:t>DPDP Rules 2025 penalty, from ~May 2027</a:t>
            </a:r>
          </a:p>
        </p:txBody>
      </p:sp>
      <p:sp>
        <p:nvSpPr>
          <p:cNvPr id="29" name="Rounded Rectangle 28"/>
          <p:cNvSpPr/>
          <p:nvPr/>
        </p:nvSpPr>
        <p:spPr>
          <a:xfrm>
            <a:off x="3063240" y="5440680"/>
            <a:ext cx="6062472" cy="411480"/>
          </a:xfrm>
          <a:prstGeom prst="roundRect">
            <a:avLst>
              <a:gd name="adj" fmla="val 50000"/>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063240" y="5440680"/>
            <a:ext cx="6062472" cy="411480"/>
          </a:xfrm>
          <a:prstGeom prst="rect">
            <a:avLst/>
          </a:prstGeom>
          <a:noFill/>
        </p:spPr>
        <p:txBody>
          <a:bodyPr wrap="square" lIns="0" rIns="0" tIns="0" bIns="0" anchor="ctr">
            <a:spAutoFit/>
          </a:bodyPr>
          <a:lstStyle/>
          <a:p>
            <a:pPr algn="ctr"/>
            <a:r>
              <a:rPr sz="1500" b="1" i="0">
                <a:solidFill>
                  <a:srgbClr val="FFFFFF"/>
                </a:solidFill>
                <a:latin typeface="Calibri"/>
              </a:rPr>
              <a:t>Runs today on hardware the owner already has.</a:t>
            </a:r>
          </a:p>
        </p:txBody>
      </p:sp>
      <p:sp>
        <p:nvSpPr>
          <p:cNvPr id="31"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Background" descr="bgD.png"/>
          <p:cNvPicPr>
            <a:picLocks noChangeAspect="1"/>
          </p:cNvPicPr>
          <p:nvPr/>
        </p:nvPicPr>
        <p:blipFill>
          <a:blip r:embed="rId2"/>
          <a:stretch>
            <a:fillRect/>
          </a:stretch>
        </p:blipFill>
        <p:spPr>
          <a:xfrm>
            <a:off x="0" y="0"/>
            <a:ext cx="12191695" cy="6858000"/>
          </a:xfrm>
          <a:prstGeom prst="rect">
            <a:avLst/>
          </a:prstGeom>
        </p:spPr>
      </p:pic>
      <p:pic>
        <p:nvPicPr>
          <p:cNvPr id="3" name="Flag" descr="image.png"/>
          <p:cNvPicPr>
            <a:picLocks noChangeAspect="1"/>
          </p:cNvPicPr>
          <p:nvPr/>
        </p:nvPicPr>
        <p:blipFill>
          <a:blip r:embed="rId3"/>
          <a:stretch>
            <a:fillRect/>
          </a:stretch>
        </p:blipFill>
        <p:spPr>
          <a:xfrm>
            <a:off x="5821527" y="1463040"/>
            <a:ext cx="548640" cy="548640"/>
          </a:xfrm>
          <a:prstGeom prst="rect">
            <a:avLst/>
          </a:prstGeom>
        </p:spPr>
      </p:pic>
      <p:sp>
        <p:nvSpPr>
          <p:cNvPr id="4" name="Title"/>
          <p:cNvSpPr txBox="1"/>
          <p:nvPr/>
        </p:nvSpPr>
        <p:spPr>
          <a:xfrm>
            <a:off x="548640" y="2011680"/>
            <a:ext cx="11091672" cy="914400"/>
          </a:xfrm>
          <a:prstGeom prst="rect">
            <a:avLst/>
          </a:prstGeom>
          <a:noFill/>
        </p:spPr>
        <p:txBody>
          <a:bodyPr wrap="square" lIns="0" rIns="0" tIns="0" bIns="0" anchor="ctr">
            <a:spAutoFit/>
          </a:bodyPr>
          <a:lstStyle/>
          <a:p>
            <a:pPr algn="ctr"/>
            <a:r>
              <a:rPr sz="5400" b="0" i="0">
                <a:solidFill>
                  <a:srgbClr val="A0A0A0"/>
                </a:solidFill>
                <a:latin typeface="Calibri"/>
              </a:rPr>
              <a:t>Thank </a:t>
            </a:r>
            <a:r>
              <a:rPr sz="5400" b="0" i="0">
                <a:solidFill>
                  <a:srgbClr val="FFFFFF"/>
                </a:solidFill>
                <a:latin typeface="Calibri"/>
              </a:rPr>
              <a:t>you</a:t>
            </a:r>
          </a:p>
        </p:txBody>
      </p:sp>
      <p:sp>
        <p:nvSpPr>
          <p:cNvPr id="5" name="TextBox 4"/>
          <p:cNvSpPr txBox="1"/>
          <p:nvPr/>
        </p:nvSpPr>
        <p:spPr>
          <a:xfrm>
            <a:off x="1371600" y="3063240"/>
            <a:ext cx="9445752" cy="457200"/>
          </a:xfrm>
          <a:prstGeom prst="rect">
            <a:avLst/>
          </a:prstGeom>
          <a:noFill/>
        </p:spPr>
        <p:txBody>
          <a:bodyPr wrap="square" lIns="0" rIns="0" tIns="0" bIns="0" anchor="ctr">
            <a:spAutoFit/>
          </a:bodyPr>
          <a:lstStyle/>
          <a:p>
            <a:pPr algn="ctr"/>
            <a:r>
              <a:rPr sz="1800" b="0" i="0">
                <a:solidFill>
                  <a:srgbClr val="E6E6E6"/>
                </a:solidFill>
                <a:latin typeface="Calibri"/>
              </a:rPr>
              <a:t>Your brain, on your machine.</a:t>
            </a:r>
          </a:p>
        </p:txBody>
      </p:sp>
      <p:sp>
        <p:nvSpPr>
          <p:cNvPr id="6" name="Rounded Rectangle 5"/>
          <p:cNvSpPr/>
          <p:nvPr/>
        </p:nvSpPr>
        <p:spPr>
          <a:xfrm>
            <a:off x="2118665" y="3840480"/>
            <a:ext cx="3840480" cy="1005840"/>
          </a:xfrm>
          <a:prstGeom prst="roundRect">
            <a:avLst>
              <a:gd name="adj" fmla="val 10909"/>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118665" y="3931920"/>
            <a:ext cx="3840480" cy="502920"/>
          </a:xfrm>
          <a:prstGeom prst="rect">
            <a:avLst/>
          </a:prstGeom>
          <a:noFill/>
        </p:spPr>
        <p:txBody>
          <a:bodyPr wrap="square" lIns="0" rIns="0" tIns="0" bIns="0" anchor="ctr">
            <a:spAutoFit/>
          </a:bodyPr>
          <a:lstStyle/>
          <a:p>
            <a:pPr algn="ctr"/>
            <a:r>
              <a:rPr sz="1700" b="1" i="0">
                <a:solidFill>
                  <a:srgbClr val="FFFFFF"/>
                </a:solidFill>
                <a:latin typeface="Calibri"/>
              </a:rPr>
              <a:t>github.com/tharanirmal/omnitrix</a:t>
            </a:r>
          </a:p>
        </p:txBody>
      </p:sp>
      <p:sp>
        <p:nvSpPr>
          <p:cNvPr id="8" name="TextBox 7"/>
          <p:cNvSpPr txBox="1"/>
          <p:nvPr/>
        </p:nvSpPr>
        <p:spPr>
          <a:xfrm>
            <a:off x="2118665" y="4434840"/>
            <a:ext cx="3840480" cy="320040"/>
          </a:xfrm>
          <a:prstGeom prst="rect">
            <a:avLst/>
          </a:prstGeom>
          <a:noFill/>
        </p:spPr>
        <p:txBody>
          <a:bodyPr wrap="square" lIns="0" rIns="0" tIns="0" bIns="0" anchor="ctr">
            <a:spAutoFit/>
          </a:bodyPr>
          <a:lstStyle/>
          <a:p>
            <a:pPr algn="ctr"/>
            <a:r>
              <a:rPr sz="1100" b="0" i="0">
                <a:solidFill>
                  <a:srgbClr val="A0A0A0"/>
                </a:solidFill>
                <a:latin typeface="Calibri"/>
              </a:rPr>
              <a:t>Repo</a:t>
            </a:r>
          </a:p>
        </p:txBody>
      </p:sp>
      <p:sp>
        <p:nvSpPr>
          <p:cNvPr id="9" name="Rounded Rectangle 8"/>
          <p:cNvSpPr/>
          <p:nvPr/>
        </p:nvSpPr>
        <p:spPr>
          <a:xfrm>
            <a:off x="6233465" y="3840480"/>
            <a:ext cx="3840480" cy="1005840"/>
          </a:xfrm>
          <a:prstGeom prst="roundRect">
            <a:avLst>
              <a:gd name="adj" fmla="val 10909"/>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52537" y="3968496"/>
            <a:ext cx="402336" cy="402336"/>
          </a:xfrm>
          <a:prstGeom prst="rect">
            <a:avLst/>
          </a:prstGeom>
        </p:spPr>
      </p:pic>
      <p:sp>
        <p:nvSpPr>
          <p:cNvPr id="11" name="TextBox 10"/>
          <p:cNvSpPr txBox="1"/>
          <p:nvPr/>
        </p:nvSpPr>
        <p:spPr>
          <a:xfrm>
            <a:off x="6233465" y="4434840"/>
            <a:ext cx="3840480" cy="320040"/>
          </a:xfrm>
          <a:prstGeom prst="rect">
            <a:avLst/>
          </a:prstGeom>
          <a:noFill/>
        </p:spPr>
        <p:txBody>
          <a:bodyPr wrap="square" lIns="0" rIns="0" tIns="0" bIns="0" anchor="ctr">
            <a:spAutoFit/>
          </a:bodyPr>
          <a:lstStyle/>
          <a:p>
            <a:pPr algn="ctr"/>
            <a:r>
              <a:rPr sz="1100" b="0" i="0">
                <a:solidFill>
                  <a:srgbClr val="A0A0A0"/>
                </a:solidFill>
                <a:latin typeface="Calibri"/>
              </a:rPr>
              <a:t>Team</a:t>
            </a:r>
          </a:p>
        </p:txBody>
      </p:sp>
      <p:sp>
        <p:nvSpPr>
          <p:cNvPr id="12"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B.pn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502920"/>
            <a:ext cx="11094415" cy="731520"/>
          </a:xfrm>
          <a:prstGeom prst="rect">
            <a:avLst/>
          </a:prstGeom>
          <a:noFill/>
        </p:spPr>
        <p:txBody>
          <a:bodyPr wrap="square" lIns="0" rIns="0" tIns="0" bIns="0" anchor="ctr">
            <a:spAutoFit/>
          </a:bodyPr>
          <a:lstStyle/>
          <a:p>
            <a:pPr algn="ctr"/>
            <a:r>
              <a:rPr sz="3600" b="0" i="0">
                <a:solidFill>
                  <a:srgbClr val="A0A0A0"/>
                </a:solidFill>
                <a:latin typeface="Calibri"/>
              </a:rPr>
              <a:t>References </a:t>
            </a:r>
            <a:r>
              <a:rPr sz="3600" b="0" i="0">
                <a:solidFill>
                  <a:srgbClr val="FFFFFF"/>
                </a:solidFill>
                <a:latin typeface="Calibri"/>
              </a:rPr>
              <a:t>and sources.</a:t>
            </a:r>
          </a:p>
        </p:txBody>
      </p:sp>
      <p:sp>
        <p:nvSpPr>
          <p:cNvPr id="4" name="Rounded Rectangle 3"/>
          <p:cNvSpPr/>
          <p:nvPr/>
        </p:nvSpPr>
        <p:spPr>
          <a:xfrm>
            <a:off x="548640" y="1371600"/>
            <a:ext cx="5440680" cy="4434840"/>
          </a:xfrm>
          <a:prstGeom prst="roundRect">
            <a:avLst>
              <a:gd name="adj" fmla="val 2474"/>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book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240" y="1536192"/>
            <a:ext cx="274320" cy="274320"/>
          </a:xfrm>
          <a:prstGeom prst="rect">
            <a:avLst/>
          </a:prstGeom>
        </p:spPr>
      </p:pic>
      <p:sp>
        <p:nvSpPr>
          <p:cNvPr id="6" name="TextBox 5"/>
          <p:cNvSpPr txBox="1"/>
          <p:nvPr/>
        </p:nvSpPr>
        <p:spPr>
          <a:xfrm>
            <a:off x="1152144" y="1536192"/>
            <a:ext cx="4389120" cy="274320"/>
          </a:xfrm>
          <a:prstGeom prst="rect">
            <a:avLst/>
          </a:prstGeom>
          <a:noFill/>
        </p:spPr>
        <p:txBody>
          <a:bodyPr wrap="square" lIns="0" rIns="0" tIns="0" bIns="0" anchor="ctr">
            <a:spAutoFit/>
          </a:bodyPr>
          <a:lstStyle/>
          <a:p>
            <a:pPr algn="l"/>
            <a:r>
              <a:rPr sz="1300" b="1" i="0">
                <a:solidFill>
                  <a:srgbClr val="FFFFFF"/>
                </a:solidFill>
                <a:latin typeface="Calibri"/>
              </a:rPr>
              <a:t>Research and evidence</a:t>
            </a:r>
          </a:p>
        </p:txBody>
      </p:sp>
      <p:sp>
        <p:nvSpPr>
          <p:cNvPr id="7" name="Rounded Rectangle 6"/>
          <p:cNvSpPr/>
          <p:nvPr/>
        </p:nvSpPr>
        <p:spPr>
          <a:xfrm>
            <a:off x="6199632" y="1371600"/>
            <a:ext cx="5440680" cy="4434840"/>
          </a:xfrm>
          <a:prstGeom prst="roundRect">
            <a:avLst>
              <a:gd name="adj" fmla="val 2474"/>
            </a:avLst>
          </a:prstGeom>
          <a:solidFill>
            <a:srgbClr val="0E0E0E"/>
          </a:solidFill>
          <a:ln w="12700">
            <a:solidFill>
              <a:srgbClr val="2C2C2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b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8232" y="1536192"/>
            <a:ext cx="274320" cy="274320"/>
          </a:xfrm>
          <a:prstGeom prst="rect">
            <a:avLst/>
          </a:prstGeom>
        </p:spPr>
      </p:pic>
      <p:sp>
        <p:nvSpPr>
          <p:cNvPr id="9" name="TextBox 8"/>
          <p:cNvSpPr txBox="1"/>
          <p:nvPr/>
        </p:nvSpPr>
        <p:spPr>
          <a:xfrm>
            <a:off x="6803136" y="1536192"/>
            <a:ext cx="4389120" cy="274320"/>
          </a:xfrm>
          <a:prstGeom prst="rect">
            <a:avLst/>
          </a:prstGeom>
          <a:noFill/>
        </p:spPr>
        <p:txBody>
          <a:bodyPr wrap="square" lIns="0" rIns="0" tIns="0" bIns="0" anchor="ctr">
            <a:spAutoFit/>
          </a:bodyPr>
          <a:lstStyle/>
          <a:p>
            <a:pPr algn="l"/>
            <a:r>
              <a:rPr sz="1300" b="1" i="0">
                <a:solidFill>
                  <a:srgbClr val="FFFFFF"/>
                </a:solidFill>
                <a:latin typeface="Calibri"/>
              </a:rPr>
              <a:t>Data, models and market</a:t>
            </a:r>
          </a:p>
        </p:txBody>
      </p:sp>
      <p:sp>
        <p:nvSpPr>
          <p:cNvPr id="10" name="TextBox 9"/>
          <p:cNvSpPr txBox="1"/>
          <p:nvPr/>
        </p:nvSpPr>
        <p:spPr>
          <a:xfrm>
            <a:off x="777240" y="1993392"/>
            <a:ext cx="4983480" cy="3657600"/>
          </a:xfrm>
          <a:prstGeom prst="rect">
            <a:avLst/>
          </a:prstGeom>
          <a:noFill/>
        </p:spPr>
        <p:txBody>
          <a:bodyPr wrap="square" lIns="0" rIns="0" tIns="0" bIns="0" anchor="t">
            <a:spAutoFit/>
          </a:bodyPr>
          <a:lstStyle/>
          <a:p>
            <a:pPr algn="l">
              <a:spcAft>
                <a:spcPts val="900"/>
              </a:spcAft>
            </a:pPr>
            <a:r>
              <a:rPr sz="1100" b="0" i="0">
                <a:solidFill>
                  <a:srgbClr val="E6E6E6"/>
                </a:solidFill>
                <a:latin typeface="Calibri"/>
              </a:rPr>
              <a:t>Kim et al. Multi-agent scaling across 180 configurations. arXiv:2512.08296</a:t>
            </a:r>
          </a:p>
          <a:p>
            <a:pPr algn="l">
              <a:spcAft>
                <a:spcPts val="900"/>
              </a:spcAft>
            </a:pPr>
            <a:r>
              <a:rPr sz="1100" b="0" i="0">
                <a:solidFill>
                  <a:srgbClr val="E6E6E6"/>
                </a:solidFill>
                <a:latin typeface="Calibri"/>
              </a:rPr>
              <a:t>Cemri et al. MAST: why multi-agent systems fail. arXiv:2503.13657</a:t>
            </a:r>
          </a:p>
          <a:p>
            <a:pPr algn="l">
              <a:spcAft>
                <a:spcPts val="900"/>
              </a:spcAft>
            </a:pPr>
            <a:r>
              <a:rPr sz="1100" b="0" i="0">
                <a:solidFill>
                  <a:srgbClr val="E6E6E6"/>
                </a:solidFill>
                <a:latin typeface="Calibri"/>
              </a:rPr>
              <a:t>Zheng et al. Persona prompts don't improve accuracy. arXiv:2311.10054</a:t>
            </a:r>
          </a:p>
          <a:p>
            <a:pPr algn="l">
              <a:spcAft>
                <a:spcPts val="900"/>
              </a:spcAft>
            </a:pPr>
            <a:r>
              <a:rPr sz="1100" b="0" i="0">
                <a:solidFill>
                  <a:srgbClr val="E6E6E6"/>
                </a:solidFill>
                <a:latin typeface="Calibri"/>
              </a:rPr>
              <a:t>NATURAL PLAN. arXiv:2406.04520</a:t>
            </a:r>
          </a:p>
          <a:p>
            <a:pPr algn="l">
              <a:spcAft>
                <a:spcPts val="900"/>
              </a:spcAft>
            </a:pPr>
            <a:r>
              <a:rPr sz="1100" b="0" i="0">
                <a:solidFill>
                  <a:srgbClr val="E6E6E6"/>
                </a:solidFill>
                <a:latin typeface="Calibri"/>
              </a:rPr>
              <a:t>A solver-checked LLM planner (10% → 93.9%). arXiv:2404.11891</a:t>
            </a:r>
          </a:p>
          <a:p>
            <a:pPr algn="l">
              <a:spcAft>
                <a:spcPts val="900"/>
              </a:spcAft>
            </a:pPr>
            <a:r>
              <a:rPr sz="1100" b="0" i="0">
                <a:solidFill>
                  <a:srgbClr val="E6E6E6"/>
                </a:solidFill>
                <a:latin typeface="Calibri"/>
              </a:rPr>
              <a:t>NVIDIA. Small Language Models are the Future of Agentic AI. arXiv:2506.02153</a:t>
            </a:r>
          </a:p>
          <a:p>
            <a:pPr algn="l">
              <a:spcAft>
                <a:spcPts val="900"/>
              </a:spcAft>
            </a:pPr>
            <a:r>
              <a:rPr sz="1100" b="0" i="0">
                <a:solidFill>
                  <a:srgbClr val="E6E6E6"/>
                </a:solidFill>
                <a:latin typeface="Calibri"/>
              </a:rPr>
              <a:t>PAPILLON (NAACL 2025): local + cloud delegation leaks 7.5%</a:t>
            </a:r>
          </a:p>
          <a:p>
            <a:pPr algn="l">
              <a:spcAft>
                <a:spcPts val="900"/>
              </a:spcAft>
            </a:pPr>
            <a:r>
              <a:rPr sz="1100" b="0" i="0">
                <a:solidFill>
                  <a:srgbClr val="E6E6E6"/>
                </a:solidFill>
                <a:latin typeface="Calibri"/>
              </a:rPr>
              <a:t>Mem0 memory audit (mem0 issue #4573); Graphiti invalidation report (graphiti issue #1728)</a:t>
            </a:r>
          </a:p>
          <a:p>
            <a:pPr algn="l">
              <a:spcAft>
                <a:spcPts val="900"/>
              </a:spcAft>
            </a:pPr>
            <a:r>
              <a:rPr sz="1100" b="0" i="0">
                <a:solidFill>
                  <a:srgbClr val="E6E6E6"/>
                </a:solidFill>
                <a:latin typeface="Calibri"/>
              </a:rPr>
              <a:t>India's Digital Personal Data Protection Rules, 2025</a:t>
            </a:r>
          </a:p>
        </p:txBody>
      </p:sp>
      <p:sp>
        <p:nvSpPr>
          <p:cNvPr id="11" name="TextBox 10"/>
          <p:cNvSpPr txBox="1"/>
          <p:nvPr/>
        </p:nvSpPr>
        <p:spPr>
          <a:xfrm>
            <a:off x="6428232" y="1993392"/>
            <a:ext cx="4983480" cy="3657600"/>
          </a:xfrm>
          <a:prstGeom prst="rect">
            <a:avLst/>
          </a:prstGeom>
          <a:noFill/>
        </p:spPr>
        <p:txBody>
          <a:bodyPr wrap="square" lIns="0" rIns="0" tIns="0" bIns="0" anchor="t">
            <a:spAutoFit/>
          </a:bodyPr>
          <a:lstStyle/>
          <a:p>
            <a:pPr algn="l">
              <a:spcAft>
                <a:spcPts val="600"/>
              </a:spcAft>
            </a:pPr>
            <a:r>
              <a:rPr sz="1100" b="0" i="0">
                <a:solidFill>
                  <a:srgbClr val="E6E6E6"/>
                </a:solidFill>
                <a:latin typeface="Calibri"/>
              </a:rPr>
              <a:t>Datasets: EnronQA (CC BY 4.0), WorkBench (MIT), QMSum / AMI</a:t>
            </a:r>
          </a:p>
          <a:p>
            <a:pPr algn="l">
              <a:spcAft>
                <a:spcPts val="600"/>
              </a:spcAft>
            </a:pPr>
            <a:r>
              <a:rPr sz="1100" b="0" i="0">
                <a:solidFill>
                  <a:srgbClr val="E6E6E6"/>
                </a:solidFill>
                <a:latin typeface="Calibri"/>
              </a:rPr>
              <a:t>Models and tools: Qwen3-1.7B, Qwen3-14B, Whisper large-v3-turbo, MLX, Ollama, PostgreSQL + pgvector, OR-Tools CP-SAT</a:t>
            </a:r>
          </a:p>
          <a:p>
            <a:pPr algn="l">
              <a:spcAft>
                <a:spcPts val="600"/>
              </a:spcAft>
            </a:pPr>
            <a:r>
              <a:rPr sz="1100" b="1" i="0">
                <a:solidFill>
                  <a:srgbClr val="A0A0A0"/>
                </a:solidFill>
                <a:latin typeface="Calibri"/>
              </a:rPr>
              <a:t>Market (TAM / SAM / SOM)</a:t>
            </a:r>
          </a:p>
          <a:p>
            <a:pPr algn="l">
              <a:spcAft>
                <a:spcPts val="600"/>
              </a:spcAft>
            </a:pPr>
            <a:r>
              <a:rPr sz="1100" b="0" i="0">
                <a:solidFill>
                  <a:srgbClr val="E6E6E6"/>
                </a:solidFill>
                <a:latin typeface="Calibri"/>
              </a:rPr>
              <a:t>Gartner press release, 24 Sep 2019: 1.14B knowledge workers by 2023</a:t>
            </a:r>
          </a:p>
          <a:p>
            <a:pPr algn="l">
              <a:spcAft>
                <a:spcPts val="600"/>
              </a:spcAft>
            </a:pPr>
            <a:r>
              <a:rPr sz="1100" b="0" i="0">
                <a:solidFill>
                  <a:srgbClr val="E6E6E6"/>
                </a:solidFill>
                <a:latin typeface="Calibri"/>
              </a:rPr>
              <a:t>Microsoft &amp; LinkedIn, 2024 Work Trend Index: 75% of knowledge workers use AI</a:t>
            </a:r>
          </a:p>
          <a:p>
            <a:pPr algn="l">
              <a:spcAft>
                <a:spcPts val="600"/>
              </a:spcAft>
            </a:pPr>
            <a:r>
              <a:rPr sz="1100" b="0" i="0">
                <a:solidFill>
                  <a:srgbClr val="E6E6E6"/>
                </a:solidFill>
                <a:latin typeface="Calibri"/>
              </a:rPr>
              <a:t>Microsoft India, 16 May 2024: 92% of Indian knowledge workers use AI</a:t>
            </a:r>
          </a:p>
          <a:p>
            <a:pPr algn="l">
              <a:spcAft>
                <a:spcPts val="600"/>
              </a:spcAft>
            </a:pPr>
            <a:r>
              <a:rPr sz="1100" b="0" i="0">
                <a:solidFill>
                  <a:srgbClr val="E6E6E6"/>
                </a:solidFill>
                <a:latin typeface="Calibri"/>
              </a:rPr>
              <a:t>Ministry of Law &amp; Justice, Rajya Sabha reply (LawChakra, 25 Oct 2025): 20,13,081 advocates</a:t>
            </a:r>
          </a:p>
          <a:p>
            <a:pPr algn="l">
              <a:spcAft>
                <a:spcPts val="600"/>
              </a:spcAft>
            </a:pPr>
            <a:r>
              <a:rPr sz="1100" b="0" i="0">
                <a:solidFill>
                  <a:srgbClr val="E6E6E6"/>
                </a:solidFill>
                <a:latin typeface="Calibri"/>
              </a:rPr>
              <a:t>ICAI 76th Annual Report 2024-25: 4,23,105 members</a:t>
            </a:r>
          </a:p>
          <a:p>
            <a:pPr algn="l">
              <a:spcAft>
                <a:spcPts val="600"/>
              </a:spcAft>
            </a:pPr>
            <a:r>
              <a:rPr sz="1100" b="0" i="0">
                <a:solidFill>
                  <a:srgbClr val="E6E6E6"/>
                </a:solidFill>
                <a:latin typeface="Calibri"/>
              </a:rPr>
              <a:t>MoS Health, Rajya Sabha reply (1 Apr 2025): 13,86,150 allopathic doctors</a:t>
            </a:r>
          </a:p>
          <a:p>
            <a:pPr algn="l">
              <a:spcAft>
                <a:spcPts val="600"/>
              </a:spcAft>
            </a:pPr>
            <a:r>
              <a:rPr sz="1100" b="0" i="0">
                <a:solidFill>
                  <a:srgbClr val="E6E6E6"/>
                </a:solidFill>
                <a:latin typeface="Calibri"/>
              </a:rPr>
              <a:t>DPIIT via PIB, 2 Dec 2025: 1,97,692 recognised startups</a:t>
            </a:r>
          </a:p>
          <a:p>
            <a:pPr algn="l">
              <a:spcAft>
                <a:spcPts val="600"/>
              </a:spcAft>
            </a:pPr>
            <a:r>
              <a:rPr sz="1100" b="0" i="0">
                <a:solidFill>
                  <a:srgbClr val="E6E6E6"/>
                </a:solidFill>
                <a:latin typeface="Calibri"/>
              </a:rPr>
              <a:t>TechCrunch, 18 Aug 2025: ChatGPT Plus ₹1,999/month in India</a:t>
            </a:r>
          </a:p>
        </p:txBody>
      </p:sp>
      <p:sp>
        <p:nvSpPr>
          <p:cNvPr id="12" name="Footer"/>
          <p:cNvSpPr txBox="1"/>
          <p:nvPr/>
        </p:nvSpPr>
        <p:spPr>
          <a:xfrm>
            <a:off x="3355848" y="6446520"/>
            <a:ext cx="5486400" cy="228600"/>
          </a:xfrm>
          <a:prstGeom prst="rect">
            <a:avLst/>
          </a:prstGeom>
          <a:noFill/>
        </p:spPr>
        <p:txBody>
          <a:bodyPr wrap="square" lIns="0" rIns="0" tIns="0" bIns="0" anchor="t">
            <a:spAutoFit/>
          </a:bodyPr>
          <a:lstStyle/>
          <a:p>
            <a:pPr algn="ctr"/>
            <a:r>
              <a:rPr sz="900" b="0" i="0">
                <a:solidFill>
                  <a:srgbClr val="5A5A5A"/>
                </a:solidFill>
                <a:latin typeface="Calibri"/>
              </a:rPr>
              <a:t>Omnitrix  ·  MSRIT Hackathon  ·  Track 1 Sovereign AI        </a:t>
            </a:r>
            <a:r>
              <a:rPr sz="900" b="0" i="0">
                <a:solidFill>
                  <a:srgbClr val="5A5A5A"/>
                </a:solidFill>
                <a:latin typeface="Calibri"/>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Omnitrix: MSRIT Hackathon pitch</dc:title>
  <dc:subject/>
  <dc:creator>Omnitrix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